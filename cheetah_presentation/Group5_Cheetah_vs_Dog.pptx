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2572a5d-26d6-55c0-da9e-67731109d9aa}">
          <p14:sldIdLst>
            <p14:sldId id="256"/>
            <p14:sldId id="257"/>
            <p14:sldId id="258"/>
            <p14:sldId id="259"/>
            <p14:sldId id="260"/>
          </p14:sldIdLst>
        </p14:section>
        <p14:section name="Solution" id="{864dedee-e0d8-d82e-5b44-5149cabce36e}">
          <p14:sldIdLst>
            <p14:sldId id="261"/>
            <p14:sldId id="262"/>
            <p14:sldId id="263"/>
            <p14:sldId id="264"/>
            <p14:sldId id="265"/>
          </p14:sldIdLst>
        </p14:section>
        <p14:section name="Graphs and checks" id="{2e74ba8a-8d2c-c794-9881-d2ef73d8526c}">
          <p14:sldIdLst>
            <p14:sldId id="266"/>
            <p14:sldId id="267"/>
            <p14:sldId id="268"/>
          </p14:sldIdLst>
        </p14:section>
        <p14:section name="Summary" id="{27565870-5a49-98cb-e9fc-e690b451c677}">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Cheetah</c:v>
                </c:pt>
              </c:strCache>
            </c:strRef>
          </c:tx>
          <c:spPr>
            <a:solidFill>
              <a:srgbClr val="D97706"/>
            </a:solidFill>
            <a:ln w="38100" cap="flat">
              <a:solidFill>
                <a:srgbClr val="D97706"/>
              </a:solidFill>
              <a:prstDash val="solid"/>
              <a:round/>
            </a:ln>
            <a:effectLst/>
          </c:spPr>
          <c:marker>
            <c:symbol val="circle"/>
            <c:size val="7"/>
            <c:spPr>
              <a:solidFill>
                <a:srgbClr val="D97706"/>
              </a:solidFill>
              <a:ln w="9525" cap="flat">
                <a:solidFill>
                  <a:srgbClr val="D97706"/>
                </a:solidFill>
                <a:prstDash val="solid"/>
                <a:round/>
              </a:ln>
              <a:effectLst/>
            </c:spPr>
          </c:marker>
          <c:xVal>
            <c:numRef>
              <c:f>Sheet1!$A$2:$A$5</c:f>
              <c:numCache>
                <c:formatCode>General</c:formatCode>
                <c:ptCount val="4"/>
                <c:pt idx="0">
                  <c:v>0</c:v>
                </c:pt>
                <c:pt idx="1">
                  <c:v>0.6666666666666666</c:v>
                </c:pt>
                <c:pt idx="2">
                  <c:v>0.75</c:v>
                </c:pt>
                <c:pt idx="3">
                  <c:v>1</c:v>
                </c:pt>
              </c:numCache>
            </c:numRef>
          </c:xVal>
          <c:yVal>
            <c:numRef>
              <c:f>Sheet1!$B$2:$B$5</c:f>
              <c:numCache>
                <c:formatCode>General</c:formatCode>
                <c:ptCount val="4"/>
                <c:pt idx="0">
                  <c:v>0</c:v>
                </c:pt>
                <c:pt idx="1">
                  <c:v>1</c:v>
                </c:pt>
                <c:pt idx="2">
                  <c:v>1</c:v>
                </c:pt>
                <c:pt idx="3">
                  <c:v>1</c:v>
                </c:pt>
              </c:numCache>
            </c:numRef>
          </c:yVal>
          <c:smooth val="0"/>
        </c:ser>
        <c:ser>
          <c:idx val="1"/>
          <c:order val="1"/>
          <c:tx>
            <c:strRef>
              <c:f>Sheet1!$C$1</c:f>
              <c:strCache>
                <c:ptCount val="1"/>
                <c:pt idx="0">
                  <c:v>Dog</c:v>
                </c:pt>
              </c:strCache>
            </c:strRef>
          </c:tx>
          <c:spPr>
            <a:solidFill>
              <a:srgbClr val="0F766E"/>
            </a:solidFill>
            <a:ln w="38100" cap="flat">
              <a:solidFill>
                <a:srgbClr val="0F766E"/>
              </a:solidFill>
              <a:prstDash val="solid"/>
              <a:round/>
            </a:ln>
            <a:effectLst/>
          </c:spPr>
          <c:marker>
            <c:symbol val="circle"/>
            <c:size val="7"/>
            <c:spPr>
              <a:solidFill>
                <a:srgbClr val="0F766E"/>
              </a:solidFill>
              <a:ln w="9525" cap="flat">
                <a:solidFill>
                  <a:srgbClr val="0F766E"/>
                </a:solidFill>
                <a:prstDash val="solid"/>
                <a:round/>
              </a:ln>
              <a:effectLst/>
            </c:spPr>
          </c:marker>
          <c:xVal>
            <c:numRef>
              <c:f>Sheet1!$A$2:$A$5</c:f>
              <c:numCache>
                <c:formatCode>General</c:formatCode>
                <c:ptCount val="4"/>
                <c:pt idx="0">
                  <c:v>0</c:v>
                </c:pt>
                <c:pt idx="1">
                  <c:v>0.6666666666666666</c:v>
                </c:pt>
                <c:pt idx="2">
                  <c:v>0.75</c:v>
                </c:pt>
                <c:pt idx="3">
                  <c:v>1</c:v>
                </c:pt>
              </c:numCache>
            </c:numRef>
          </c:xVal>
          <c:yVal>
            <c:numRef>
              <c:f>Sheet1!$C$2:$C$5</c:f>
              <c:numCache>
                <c:formatCode>General</c:formatCode>
                <c:ptCount val="4"/>
                <c:pt idx="0">
                  <c:v>0</c:v>
                </c:pt>
                <c:pt idx="1">
                  <c:v>0.8888888888888888</c:v>
                </c:pt>
                <c:pt idx="2">
                  <c:v>1</c:v>
                </c:pt>
                <c:pt idx="3">
                  <c:v>1.3333333333333333</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majorGridlines>
          <c:spPr>
            <a:ln w="9525" cap="flat">
              <a:solidFill>
                <a:srgbClr val="E5E7EB"/>
              </a:solidFill>
              <a:prstDash val="solid"/>
              <a:round/>
            </a:ln>
          </c:spPr>
        </c:majorGridlines>
        <c:title>
          <c:tx>
            <c:rich>
              <a:bodyPr/>
              <a:lstStyle/>
              <a:p>
                <a:pPr>
                  <a:defRPr sz="1300" b="0" i="0" u="none" strike="noStrike">
                    <a:solidFill>
                      <a:srgbClr val="000000"/>
                    </a:solidFill>
                    <a:latin typeface="+mn-lt"/>
                  </a:defRPr>
                </a:pPr>
                <a:r>
                  <a:rPr sz="1300" b="0" i="0" u="none" strike="noStrike">
                    <a:solidFill>
                      <a:srgbClr val="000000"/>
                    </a:solidFill>
                    <a:latin typeface="+mn-lt"/>
                  </a:rPr>
                  <a:t>time (as a fraction of T)</a:t>
                </a:r>
              </a:p>
            </c:rich>
          </c:tx>
          <c:layout/>
          <c:overlay val="0"/>
        </c:title>
        <c:numFmt formatCode="0.00"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majorUnit val="0.25"/>
      </c:valAx>
      <c:valAx>
        <c:axId val="2094734552"/>
        <c:scaling>
          <c:orientation val="minMax"/>
          <c:max val="1.4"/>
          <c:min val="0"/>
        </c:scaling>
        <c:delete val="0"/>
        <c:axPos val="l"/>
        <c:majorGridlines>
          <c:spPr>
            <a:ln w="9525" cap="flat">
              <a:solidFill>
                <a:srgbClr val="E5E7EB"/>
              </a:solidFill>
              <a:prstDash val="solid"/>
              <a:round/>
            </a:ln>
          </c:spPr>
        </c:majorGridlines>
        <c:title>
          <c:tx>
            <c:rich>
              <a:bodyPr/>
              <a:lstStyle/>
              <a:p>
                <a:pPr>
                  <a:defRPr sz="1300" b="0" i="0" u="none" strike="noStrike">
                    <a:solidFill>
                      <a:srgbClr val="000000"/>
                    </a:solidFill>
                    <a:latin typeface="+mn-lt"/>
                  </a:defRPr>
                </a:pPr>
                <a:r>
                  <a:rPr sz="1300" b="0" i="0" u="none" strike="noStrike">
                    <a:solidFill>
                      <a:srgbClr val="000000"/>
                    </a:solidFill>
                    <a:latin typeface="+mn-lt"/>
                  </a:rPr>
                  <a:t>speed (as a multiple of V)</a:t>
                </a:r>
              </a:p>
            </c:rich>
          </c:tx>
          <c:layout/>
          <c:overlay val="0"/>
        </c:title>
        <c:numFmt formatCode="0.00"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4"/>
        <c:crosses val="autoZero"/>
        <c:crossBetween val="midCat"/>
        <c:majorUnit val="0.2"/>
      </c:valAx>
      <c:spPr>
        <a:noFill/>
        <a:ln>
          <a:noFill/>
        </a:ln>
        <a:effectLst/>
      </c:spPr>
    </c:plotArea>
    <c:legend>
      <c:legendPos val="t"/>
      <c:overlay val="0"/>
      <c:txPr>
        <a:bodyPr/>
        <a:lstStyle/>
        <a:p>
          <a:pPr>
            <a:defRPr sz="14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Cheetah</c:v>
                </c:pt>
              </c:strCache>
            </c:strRef>
          </c:tx>
          <c:spPr>
            <a:solidFill>
              <a:srgbClr val="D97706"/>
            </a:solidFill>
            <a:ln w="38100" cap="flat">
              <a:solidFill>
                <a:srgbClr val="D97706"/>
              </a:solidFill>
              <a:prstDash val="solid"/>
              <a:round/>
            </a:ln>
            <a:effectLst/>
          </c:spPr>
          <c:marker>
            <c:symbol val="none"/>
            <c:size val="6"/>
            <c:spPr>
              <a:solidFill>
                <a:srgbClr val="D97706"/>
              </a:solidFill>
              <a:ln w="9525" cap="flat">
                <a:solidFill>
                  <a:srgbClr val="D97706"/>
                </a:solidFill>
                <a:prstDash val="solid"/>
                <a:round/>
              </a:ln>
              <a:effectLst/>
            </c:spPr>
          </c:marker>
          <c:xVal>
            <c:numRef>
              <c:f>Sheet1!$A$2:$A$42</c:f>
              <c:numCache>
                <c:formatCode>General</c:formatCode>
                <c:ptCount val="41"/>
                <c:pt idx="0">
                  <c:v>0</c:v>
                </c:pt>
                <c:pt idx="1">
                  <c:v>0.025</c:v>
                </c:pt>
                <c:pt idx="2">
                  <c:v>0.05</c:v>
                </c:pt>
                <c:pt idx="3">
                  <c:v>0.075</c:v>
                </c:pt>
                <c:pt idx="4">
                  <c:v>0.1</c:v>
                </c:pt>
                <c:pt idx="5">
                  <c:v>0.125</c:v>
                </c:pt>
                <c:pt idx="6">
                  <c:v>0.15</c:v>
                </c:pt>
                <c:pt idx="7">
                  <c:v>0.175</c:v>
                </c:pt>
                <c:pt idx="8">
                  <c:v>0.2</c:v>
                </c:pt>
                <c:pt idx="9">
                  <c:v>0.225</c:v>
                </c:pt>
                <c:pt idx="10">
                  <c:v>0.25</c:v>
                </c:pt>
                <c:pt idx="11">
                  <c:v>0.275</c:v>
                </c:pt>
                <c:pt idx="12">
                  <c:v>0.3</c:v>
                </c:pt>
                <c:pt idx="13">
                  <c:v>0.325</c:v>
                </c:pt>
                <c:pt idx="14">
                  <c:v>0.35</c:v>
                </c:pt>
                <c:pt idx="15">
                  <c:v>0.375</c:v>
                </c:pt>
                <c:pt idx="16">
                  <c:v>0.4</c:v>
                </c:pt>
                <c:pt idx="17">
                  <c:v>0.425</c:v>
                </c:pt>
                <c:pt idx="18">
                  <c:v>0.45</c:v>
                </c:pt>
                <c:pt idx="19">
                  <c:v>0.475</c:v>
                </c:pt>
                <c:pt idx="20">
                  <c:v>0.5</c:v>
                </c:pt>
                <c:pt idx="21">
                  <c:v>0.525</c:v>
                </c:pt>
                <c:pt idx="22">
                  <c:v>0.55</c:v>
                </c:pt>
                <c:pt idx="23">
                  <c:v>0.575</c:v>
                </c:pt>
                <c:pt idx="24">
                  <c:v>0.6</c:v>
                </c:pt>
                <c:pt idx="25">
                  <c:v>0.625</c:v>
                </c:pt>
                <c:pt idx="26">
                  <c:v>0.65</c:v>
                </c:pt>
                <c:pt idx="27">
                  <c:v>0.675</c:v>
                </c:pt>
                <c:pt idx="28">
                  <c:v>0.7</c:v>
                </c:pt>
                <c:pt idx="29">
                  <c:v>0.725</c:v>
                </c:pt>
                <c:pt idx="30">
                  <c:v>0.75</c:v>
                </c:pt>
                <c:pt idx="31">
                  <c:v>0.775</c:v>
                </c:pt>
                <c:pt idx="32">
                  <c:v>0.8</c:v>
                </c:pt>
                <c:pt idx="33">
                  <c:v>0.825</c:v>
                </c:pt>
                <c:pt idx="34">
                  <c:v>0.85</c:v>
                </c:pt>
                <c:pt idx="35">
                  <c:v>0.875</c:v>
                </c:pt>
                <c:pt idx="36">
                  <c:v>0.9</c:v>
                </c:pt>
                <c:pt idx="37">
                  <c:v>0.925</c:v>
                </c:pt>
                <c:pt idx="38">
                  <c:v>0.95</c:v>
                </c:pt>
                <c:pt idx="39">
                  <c:v>0.975</c:v>
                </c:pt>
                <c:pt idx="40">
                  <c:v>1</c:v>
                </c:pt>
              </c:numCache>
            </c:numRef>
          </c:xVal>
          <c:yVal>
            <c:numRef>
              <c:f>Sheet1!$B$2:$B$42</c:f>
              <c:numCache>
                <c:formatCode>General</c:formatCode>
                <c:ptCount val="41"/>
                <c:pt idx="0">
                  <c:v>0</c:v>
                </c:pt>
                <c:pt idx="1">
                  <c:v>0.0007031250000000001</c:v>
                </c:pt>
                <c:pt idx="2">
                  <c:v>0.0028125000000000003</c:v>
                </c:pt>
                <c:pt idx="3">
                  <c:v>0.0063281249999999995</c:v>
                </c:pt>
                <c:pt idx="4">
                  <c:v>0.011250000000000001</c:v>
                </c:pt>
                <c:pt idx="5">
                  <c:v>0.017578125</c:v>
                </c:pt>
                <c:pt idx="6">
                  <c:v>0.025312499999999998</c:v>
                </c:pt>
                <c:pt idx="7">
                  <c:v>0.034453124999999994</c:v>
                </c:pt>
                <c:pt idx="8">
                  <c:v>0.045000000000000005</c:v>
                </c:pt>
                <c:pt idx="9">
                  <c:v>0.056953125</c:v>
                </c:pt>
                <c:pt idx="10">
                  <c:v>0.0703125</c:v>
                </c:pt>
                <c:pt idx="11">
                  <c:v>0.085078125</c:v>
                </c:pt>
                <c:pt idx="12">
                  <c:v>0.10124999999999999</c:v>
                </c:pt>
                <c:pt idx="13">
                  <c:v>0.11882812500000002</c:v>
                </c:pt>
                <c:pt idx="14">
                  <c:v>0.13781249999999998</c:v>
                </c:pt>
                <c:pt idx="15">
                  <c:v>0.158203125</c:v>
                </c:pt>
                <c:pt idx="16">
                  <c:v>0.18000000000000002</c:v>
                </c:pt>
                <c:pt idx="17">
                  <c:v>0.20320312499999998</c:v>
                </c:pt>
                <c:pt idx="18">
                  <c:v>0.2278125</c:v>
                </c:pt>
                <c:pt idx="19">
                  <c:v>0.25382812499999996</c:v>
                </c:pt>
                <c:pt idx="20">
                  <c:v>0.28125</c:v>
                </c:pt>
                <c:pt idx="21">
                  <c:v>0.31007812500000004</c:v>
                </c:pt>
                <c:pt idx="22">
                  <c:v>0.3403125</c:v>
                </c:pt>
                <c:pt idx="23">
                  <c:v>0.37195312499999994</c:v>
                </c:pt>
                <c:pt idx="24">
                  <c:v>0.40499999999999997</c:v>
                </c:pt>
                <c:pt idx="25">
                  <c:v>0.439453125</c:v>
                </c:pt>
                <c:pt idx="26">
                  <c:v>0.4753125000000001</c:v>
                </c:pt>
                <c:pt idx="27">
                  <c:v>0.5125000000000002</c:v>
                </c:pt>
                <c:pt idx="28">
                  <c:v>0.55</c:v>
                </c:pt>
                <c:pt idx="29">
                  <c:v>0.5875</c:v>
                </c:pt>
                <c:pt idx="30">
                  <c:v>0.625</c:v>
                </c:pt>
                <c:pt idx="31">
                  <c:v>0.6625000000000001</c:v>
                </c:pt>
                <c:pt idx="32">
                  <c:v>0.7000000000000002</c:v>
                </c:pt>
                <c:pt idx="33">
                  <c:v>0.7375</c:v>
                </c:pt>
                <c:pt idx="34">
                  <c:v>0.775</c:v>
                </c:pt>
                <c:pt idx="35">
                  <c:v>0.8125</c:v>
                </c:pt>
                <c:pt idx="36">
                  <c:v>0.8500000000000001</c:v>
                </c:pt>
                <c:pt idx="37">
                  <c:v>0.8875000000000002</c:v>
                </c:pt>
                <c:pt idx="38">
                  <c:v>0.925</c:v>
                </c:pt>
                <c:pt idx="39">
                  <c:v>0.9625</c:v>
                </c:pt>
                <c:pt idx="40">
                  <c:v>1</c:v>
                </c:pt>
              </c:numCache>
            </c:numRef>
          </c:yVal>
          <c:smooth val="0"/>
        </c:ser>
        <c:ser>
          <c:idx val="1"/>
          <c:order val="1"/>
          <c:tx>
            <c:strRef>
              <c:f>Sheet1!$C$1</c:f>
              <c:strCache>
                <c:ptCount val="1"/>
                <c:pt idx="0">
                  <c:v>Dog</c:v>
                </c:pt>
              </c:strCache>
            </c:strRef>
          </c:tx>
          <c:spPr>
            <a:solidFill>
              <a:srgbClr val="0F766E"/>
            </a:solidFill>
            <a:ln w="38100" cap="flat">
              <a:solidFill>
                <a:srgbClr val="0F766E"/>
              </a:solidFill>
              <a:prstDash val="solid"/>
              <a:round/>
            </a:ln>
            <a:effectLst/>
          </c:spPr>
          <c:marker>
            <c:symbol val="none"/>
            <c:size val="6"/>
            <c:spPr>
              <a:solidFill>
                <a:srgbClr val="0F766E"/>
              </a:solidFill>
              <a:ln w="9525" cap="flat">
                <a:solidFill>
                  <a:srgbClr val="0F766E"/>
                </a:solidFill>
                <a:prstDash val="solid"/>
                <a:round/>
              </a:ln>
              <a:effectLst/>
            </c:spPr>
          </c:marker>
          <c:xVal>
            <c:numRef>
              <c:f>Sheet1!$A$2:$A$42</c:f>
              <c:numCache>
                <c:formatCode>General</c:formatCode>
                <c:ptCount val="41"/>
                <c:pt idx="0">
                  <c:v>0</c:v>
                </c:pt>
                <c:pt idx="1">
                  <c:v>0.025</c:v>
                </c:pt>
                <c:pt idx="2">
                  <c:v>0.05</c:v>
                </c:pt>
                <c:pt idx="3">
                  <c:v>0.075</c:v>
                </c:pt>
                <c:pt idx="4">
                  <c:v>0.1</c:v>
                </c:pt>
                <c:pt idx="5">
                  <c:v>0.125</c:v>
                </c:pt>
                <c:pt idx="6">
                  <c:v>0.15</c:v>
                </c:pt>
                <c:pt idx="7">
                  <c:v>0.175</c:v>
                </c:pt>
                <c:pt idx="8">
                  <c:v>0.2</c:v>
                </c:pt>
                <c:pt idx="9">
                  <c:v>0.225</c:v>
                </c:pt>
                <c:pt idx="10">
                  <c:v>0.25</c:v>
                </c:pt>
                <c:pt idx="11">
                  <c:v>0.275</c:v>
                </c:pt>
                <c:pt idx="12">
                  <c:v>0.3</c:v>
                </c:pt>
                <c:pt idx="13">
                  <c:v>0.325</c:v>
                </c:pt>
                <c:pt idx="14">
                  <c:v>0.35</c:v>
                </c:pt>
                <c:pt idx="15">
                  <c:v>0.375</c:v>
                </c:pt>
                <c:pt idx="16">
                  <c:v>0.4</c:v>
                </c:pt>
                <c:pt idx="17">
                  <c:v>0.425</c:v>
                </c:pt>
                <c:pt idx="18">
                  <c:v>0.45</c:v>
                </c:pt>
                <c:pt idx="19">
                  <c:v>0.475</c:v>
                </c:pt>
                <c:pt idx="20">
                  <c:v>0.5</c:v>
                </c:pt>
                <c:pt idx="21">
                  <c:v>0.525</c:v>
                </c:pt>
                <c:pt idx="22">
                  <c:v>0.55</c:v>
                </c:pt>
                <c:pt idx="23">
                  <c:v>0.575</c:v>
                </c:pt>
                <c:pt idx="24">
                  <c:v>0.6</c:v>
                </c:pt>
                <c:pt idx="25">
                  <c:v>0.625</c:v>
                </c:pt>
                <c:pt idx="26">
                  <c:v>0.65</c:v>
                </c:pt>
                <c:pt idx="27">
                  <c:v>0.675</c:v>
                </c:pt>
                <c:pt idx="28">
                  <c:v>0.7</c:v>
                </c:pt>
                <c:pt idx="29">
                  <c:v>0.725</c:v>
                </c:pt>
                <c:pt idx="30">
                  <c:v>0.75</c:v>
                </c:pt>
                <c:pt idx="31">
                  <c:v>0.775</c:v>
                </c:pt>
                <c:pt idx="32">
                  <c:v>0.8</c:v>
                </c:pt>
                <c:pt idx="33">
                  <c:v>0.825</c:v>
                </c:pt>
                <c:pt idx="34">
                  <c:v>0.85</c:v>
                </c:pt>
                <c:pt idx="35">
                  <c:v>0.875</c:v>
                </c:pt>
                <c:pt idx="36">
                  <c:v>0.9</c:v>
                </c:pt>
                <c:pt idx="37">
                  <c:v>0.925</c:v>
                </c:pt>
                <c:pt idx="38">
                  <c:v>0.95</c:v>
                </c:pt>
                <c:pt idx="39">
                  <c:v>0.975</c:v>
                </c:pt>
                <c:pt idx="40">
                  <c:v>1</c:v>
                </c:pt>
              </c:numCache>
            </c:numRef>
          </c:xVal>
          <c:yVal>
            <c:numRef>
              <c:f>Sheet1!$C$2:$C$42</c:f>
              <c:numCache>
                <c:formatCode>General</c:formatCode>
                <c:ptCount val="41"/>
                <c:pt idx="0">
                  <c:v>0</c:v>
                </c:pt>
                <c:pt idx="1">
                  <c:v>0.0006250000000000001</c:v>
                </c:pt>
                <c:pt idx="2">
                  <c:v>0.0025000000000000005</c:v>
                </c:pt>
                <c:pt idx="3">
                  <c:v>0.005625</c:v>
                </c:pt>
                <c:pt idx="4">
                  <c:v>0.010000000000000002</c:v>
                </c:pt>
                <c:pt idx="5">
                  <c:v>0.015625</c:v>
                </c:pt>
                <c:pt idx="6">
                  <c:v>0.0225</c:v>
                </c:pt>
                <c:pt idx="7">
                  <c:v>0.030624999999999996</c:v>
                </c:pt>
                <c:pt idx="8">
                  <c:v>0.04000000000000001</c:v>
                </c:pt>
                <c:pt idx="9">
                  <c:v>0.050625</c:v>
                </c:pt>
                <c:pt idx="10">
                  <c:v>0.0625</c:v>
                </c:pt>
                <c:pt idx="11">
                  <c:v>0.07562500000000001</c:v>
                </c:pt>
                <c:pt idx="12">
                  <c:v>0.09</c:v>
                </c:pt>
                <c:pt idx="13">
                  <c:v>0.10562500000000001</c:v>
                </c:pt>
                <c:pt idx="14">
                  <c:v>0.12249999999999998</c:v>
                </c:pt>
                <c:pt idx="15">
                  <c:v>0.140625</c:v>
                </c:pt>
                <c:pt idx="16">
                  <c:v>0.16000000000000003</c:v>
                </c:pt>
                <c:pt idx="17">
                  <c:v>0.18062499999999998</c:v>
                </c:pt>
                <c:pt idx="18">
                  <c:v>0.2025</c:v>
                </c:pt>
                <c:pt idx="19">
                  <c:v>0.225625</c:v>
                </c:pt>
                <c:pt idx="20">
                  <c:v>0.25</c:v>
                </c:pt>
                <c:pt idx="21">
                  <c:v>0.275625</c:v>
                </c:pt>
                <c:pt idx="22">
                  <c:v>0.30250000000000005</c:v>
                </c:pt>
                <c:pt idx="23">
                  <c:v>0.33062499999999995</c:v>
                </c:pt>
                <c:pt idx="24">
                  <c:v>0.36</c:v>
                </c:pt>
                <c:pt idx="25">
                  <c:v>0.390625</c:v>
                </c:pt>
                <c:pt idx="26">
                  <c:v>0.42250000000000004</c:v>
                </c:pt>
                <c:pt idx="27">
                  <c:v>0.45562500000000006</c:v>
                </c:pt>
                <c:pt idx="28">
                  <c:v>0.48999999999999994</c:v>
                </c:pt>
                <c:pt idx="29">
                  <c:v>0.525625</c:v>
                </c:pt>
                <c:pt idx="30">
                  <c:v>0.5625</c:v>
                </c:pt>
                <c:pt idx="31">
                  <c:v>0.6006250000000001</c:v>
                </c:pt>
                <c:pt idx="32">
                  <c:v>0.6400000000000001</c:v>
                </c:pt>
                <c:pt idx="33">
                  <c:v>0.6806249999999999</c:v>
                </c:pt>
                <c:pt idx="34">
                  <c:v>0.7224999999999999</c:v>
                </c:pt>
                <c:pt idx="35">
                  <c:v>0.765625</c:v>
                </c:pt>
                <c:pt idx="36">
                  <c:v>0.81</c:v>
                </c:pt>
                <c:pt idx="37">
                  <c:v>0.8556250000000001</c:v>
                </c:pt>
                <c:pt idx="38">
                  <c:v>0.9025</c:v>
                </c:pt>
                <c:pt idx="39">
                  <c:v>0.9506249999999999</c:v>
                </c:pt>
                <c:pt idx="40">
                  <c:v>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majorGridlines>
          <c:spPr>
            <a:ln w="9525" cap="flat">
              <a:solidFill>
                <a:srgbClr val="E5E7EB"/>
              </a:solidFill>
              <a:prstDash val="solid"/>
              <a:round/>
            </a:ln>
          </c:spPr>
        </c:majorGridlines>
        <c:title>
          <c:tx>
            <c:rich>
              <a:bodyPr/>
              <a:lstStyle/>
              <a:p>
                <a:pPr>
                  <a:defRPr sz="1300" b="0" i="0" u="none" strike="noStrike">
                    <a:solidFill>
                      <a:srgbClr val="000000"/>
                    </a:solidFill>
                    <a:latin typeface="+mn-lt"/>
                  </a:defRPr>
                </a:pPr>
                <a:r>
                  <a:rPr sz="1300" b="0" i="0" u="none" strike="noStrike">
                    <a:solidFill>
                      <a:srgbClr val="000000"/>
                    </a:solidFill>
                    <a:latin typeface="+mn-lt"/>
                  </a:rPr>
                  <a:t>time (as a fraction of T)</a:t>
                </a:r>
              </a:p>
            </c:rich>
          </c:tx>
          <c:layout/>
          <c:overlay val="0"/>
        </c:title>
        <c:numFmt formatCode="0.00"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majorUnit val="0.25"/>
      </c:valAx>
      <c:valAx>
        <c:axId val="2094734552"/>
        <c:scaling>
          <c:orientation val="minMax"/>
          <c:max val="1"/>
          <c:min val="0"/>
        </c:scaling>
        <c:delete val="0"/>
        <c:axPos val="l"/>
        <c:majorGridlines>
          <c:spPr>
            <a:ln w="9525" cap="flat">
              <a:solidFill>
                <a:srgbClr val="E5E7EB"/>
              </a:solidFill>
              <a:prstDash val="solid"/>
              <a:round/>
            </a:ln>
          </c:spPr>
        </c:majorGridlines>
        <c:title>
          <c:tx>
            <c:rich>
              <a:bodyPr/>
              <a:lstStyle/>
              <a:p>
                <a:pPr>
                  <a:defRPr sz="1300" b="0" i="0" u="none" strike="noStrike">
                    <a:solidFill>
                      <a:srgbClr val="000000"/>
                    </a:solidFill>
                    <a:latin typeface="+mn-lt"/>
                  </a:defRPr>
                </a:pPr>
                <a:r>
                  <a:rPr sz="1300" b="0" i="0" u="none" strike="noStrike">
                    <a:solidFill>
                      <a:srgbClr val="000000"/>
                    </a:solidFill>
                    <a:latin typeface="+mn-lt"/>
                  </a:rPr>
                  <a:t>distance covered (as a fraction of D)</a:t>
                </a:r>
              </a:p>
            </c:rich>
          </c:tx>
          <c:layout/>
          <c:overlay val="0"/>
        </c:title>
        <c:numFmt formatCode="0.00"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4"/>
        <c:crosses val="autoZero"/>
        <c:crossBetween val="midCat"/>
        <c:majorUnit val="0.25"/>
      </c:valAx>
      <c:spPr>
        <a:noFill/>
        <a:ln>
          <a:noFill/>
        </a:ln>
        <a:effectLst/>
      </c:spPr>
    </c:plotArea>
    <c:legend>
      <c:legendPos val="t"/>
      <c:overlay val="0"/>
      <c:txPr>
        <a:bodyPr/>
        <a:lstStyle/>
        <a:p>
          <a:pPr>
            <a:defRPr sz="14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we're Group 5. Our problem is a race between a cheetah and a dog that start together and finish together, but run in very different ways. We'll show how we solved it step by step, check it with real numbers, and look at it on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problem exactly as it was given to us. Two things to find: the ratio of the two accelerations, and which animal is faster at the very end and by how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we pictured it. Dashed lines mean the animal is speeding up, the thick line means steady speed. The cheetah speeds up only until halfway, then cruises at its top speed V. The dog keeps speeding up all the way. They start at the same moment and cross the finish line at the same moment, at time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facts we were given. One thing we had to decide: 'midpoint of the chase' could mean halfway in distance or halfway in time. We took it as halfway in distance, which is the usual meaning. At the end we show what changes if you read it the other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equations are all we need. Since both animals start from rest, u is zero, so they simplify nicely. For the part where the cheetah runs at a steady speed, it's just distance equals speed times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part of the cheetah's run. It covers half the distance while speeding up from zero to V. Using v squared equals 2as, we get a_c equals V squared over D. Then v equals at gives the time for this part: D over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is easy: steady speed V over a distance D over 2, so it takes D over 2V. Adding both parts, the whole chase takes T equals 3D over 2V. A nice detail: the first half of the distance takes two thirds of the time, because the cheetah starts from standing still.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dog. It speeds up the whole way and covers D in the same time T. From s equals one half a t squared, a_d equals 2D over T squared. We put in the cheetah's total time and get a_d equals 8 V squared over 9 D. We never needed actual numbers, because everything cancels in the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first answer. Dividing one acceleration by the other, V squared and D cancel and we're left with 8 over 9, about 0.89. So the dog's acceleration is about 11 percent smaller than the cheetah's. That makes sense: the dog keeps accelerating for the whole chase, so it doesn't need to push as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answer. The cheetah stops speeding up at halfway, so it finishes at V. The dog is still speeding up, and by the end it's going at a_d times T, which works out to 4V over 3. So the dog is faster at the finish, by a factor of 4 over 3, about 33 percent. There's also a shortcut: both have the same average speed, and for steady acceleration from rest the final speed is twice the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speed-time graph for both animals. The slope is the acceleration, so the dog's line is slightly less steep. The cheetah's line flattens at two thirds of the time. The lines cross at three quarters of the time, and the dog ends at 4V over 3. The area under each line is the distance, and both areas come out the same, which is why they finish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wondered who's actually in front during the race. The cheetah's curve is always above the dog's, so the cheetah leads the whole time. Its lead is biggest at three quarters of the time, when they're moving at the same speed, and it's one sixteenth of the distance. After that the dog is faster and catches up exactly on the finish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sure our algebra was right, we tried real numbers: a 200 metre chase with a cheetah top speed of 30 metres per second, which is realistic. Everything checks: the accelerations are 4.5 and 4.0, ratio 8 over 9, and the final speeds are 30 and 40, ratio 4 over 3. The funny part is that no real dog can run 40 metres per second, so in real life the cheetah wins easily.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the ratio of the dog's acceleration to the cheetah's is 8 over 9, and the dog is faster at the finish by a factor of 4 over 3. Even though they start and finish together, they move very differently, and drawing graphs helped us see why. Thanks for listening,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if someone asks: 'midpoint' could also be read as halfway in time. Then the ratio would be 3 over 4 and the dog would be faster by a factor of 3 over 2. Same method, different numbers. We used the distance reading in our main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371600"/>
          </a:xfrm>
          <a:prstGeom prst="rect">
            <a:avLst/>
          </a:prstGeom>
          <a:noFill/>
          <a:ln/>
        </p:spPr>
        <p:txBody>
          <a:bodyPr wrap="square" rtlCol="0"/>
          <a:lstStyle>
            <a:lvl1pPr algn="l" indent="0" marL="0">
              <a:buNone/>
              <a:defRPr lang="en-US" sz="4800" b="1" dirty="0">
                <a:solidFill>
                  <a:schemeClr val="tx1"/>
                </a:solidFill>
              </a:defRPr>
            </a:lvl1pPr>
          </a:lstStyle>
          <a:p>
            <a:pPr algn="l" indent="0" marL="0">
              <a:buNone/>
            </a:pPr>
            <a:r>
              <a:rPr lang="en-US" sz="4800" b="1" dirty="0">
                <a:solidFill>
                  <a:schemeClr val="tx1"/>
                </a:solidFill>
              </a:rPr>
              <a:t>Title</a:t>
            </a:r>
            <a:endParaRPr lang="en-US" sz="4800" dirty="0"/>
          </a:p>
        </p:txBody>
      </p:sp>
      <p:sp>
        <p:nvSpPr>
          <p:cNvPr id="3" name="Text 0"/>
          <p:cNvSpPr/>
          <p:nvPr>
            <p:ph idx="101" type="body" hasCustomPrompt="1"/>
          </p:nvPr>
        </p:nvSpPr>
        <p:spPr>
          <a:xfrm>
            <a:off x="731520" y="3520440"/>
            <a:ext cx="10698480" cy="1097280"/>
          </a:xfrm>
          <a:prstGeom prst="rect">
            <a:avLst/>
          </a:prstGeom>
          <a:noFill/>
          <a:ln/>
        </p:spPr>
        <p:txBody>
          <a:bodyPr wrap="square" rtlCol="0"/>
          <a:lstStyle>
            <a:lvl1pPr algn="l" indent="0" marL="0">
              <a:buNone/>
              <a:defRPr lang="en-US" sz="2200" dirty="0">
                <a:solidFill>
                  <a:schemeClr val="tx2"/>
                </a:solidFill>
              </a:defRPr>
            </a:lvl1pPr>
          </a:lstStyle>
          <a:p>
            <a:pPr algn="l" indent="0" marL="0">
              <a:buNone/>
            </a:pPr>
            <a:r>
              <a:rPr lang="en-US" sz="2200" dirty="0">
                <a:solidFill>
                  <a:schemeClr val="tx2"/>
                </a:solidFill>
              </a:rPr>
              <a:t>Subtitle</a:t>
            </a: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r>
              <a:rPr lang="en-US" sz="3200" b="1" dirty="0">
                <a:solidFill>
                  <a:schemeClr val="tx1"/>
                </a:solidFill>
              </a:rPr>
              <a:t>Title</a:t>
            </a:r>
            <a:endParaRPr lang="en-US" sz="32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371600"/>
          </a:xfrm>
          <a:prstGeom prst="rect">
            <a:avLst/>
          </a:prstGeom>
          <a:noFill/>
          <a:ln/>
        </p:spPr>
        <p:txBody>
          <a:bodyPr wrap="square" rtlCol="0" anchor="b"/>
          <a:lstStyle/>
          <a:p>
            <a:pPr algn="l" indent="0" marL="0">
              <a:buNone/>
            </a:pPr>
            <a:r>
              <a:rPr lang="en-US" sz="4800" b="1" dirty="0">
                <a:solidFill>
                  <a:schemeClr val="tx1"/>
                </a:solidFill>
              </a:rPr>
              <a:t>The Cheetah and the Dog</a:t>
            </a:r>
            <a:endParaRPr lang="en-US" sz="4800" dirty="0"/>
          </a:p>
        </p:txBody>
      </p:sp>
      <p:sp>
        <p:nvSpPr>
          <p:cNvPr id="3" name="Text 0"/>
          <p:cNvSpPr/>
          <p:nvPr>
            <p:ph idx="101" type="body" hasCustomPrompt="1"/>
          </p:nvPr>
        </p:nvSpPr>
        <p:spPr>
          <a:xfrm>
            <a:off x="731520" y="3520440"/>
            <a:ext cx="10698480" cy="1097280"/>
          </a:xfrm>
          <a:prstGeom prst="rect">
            <a:avLst/>
          </a:prstGeom>
          <a:noFill/>
          <a:ln/>
        </p:spPr>
        <p:txBody>
          <a:bodyPr wrap="square" rtlCol="0" anchor="t"/>
          <a:lstStyle/>
          <a:p>
            <a:pPr algn="l" indent="0" marL="0">
              <a:buNone/>
            </a:pPr>
            <a:r>
              <a:rPr lang="en-US" sz="2200" dirty="0">
                <a:solidFill>
                  <a:schemeClr val="tx2"/>
                </a:solidFill>
              </a:rPr>
              <a:t>Group 5 · A uniform acceleration problem</a:t>
            </a:r>
            <a:endParaRPr lang="en-US" sz="2200" dirty="0"/>
          </a:p>
        </p:txBody>
      </p:sp>
      <p:sp>
        <p:nvSpPr>
          <p:cNvPr id="4" name="cheetah marker"/>
          <p:cNvSpPr/>
          <p:nvPr/>
        </p:nvSpPr>
        <p:spPr>
          <a:xfrm>
            <a:off x="731520" y="512064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1371600" y="5120640"/>
            <a:ext cx="1828800" cy="502920"/>
          </a:xfrm>
          <a:prstGeom prst="rect">
            <a:avLst/>
          </a:prstGeom>
          <a:noFill/>
          <a:ln/>
        </p:spPr>
        <p:txBody>
          <a:bodyPr wrap="square" lIns="0" tIns="0" rIns="0" bIns="0" rtlCol="0" anchor="ctr"/>
          <a:lstStyle/>
          <a:p>
            <a:pPr indent="0" marL="0">
              <a:buNone/>
            </a:pPr>
            <a:r>
              <a:rPr lang="en-US" sz="1800" b="1" dirty="0">
                <a:solidFill>
                  <a:schemeClr val="accent3"/>
                </a:solidFill>
              </a:rPr>
              <a:t>Cheetah</a:t>
            </a:r>
            <a:endParaRPr lang="en-US" sz="1800" dirty="0"/>
          </a:p>
        </p:txBody>
      </p:sp>
      <p:sp>
        <p:nvSpPr>
          <p:cNvPr id="6" name="dog marker"/>
          <p:cNvSpPr/>
          <p:nvPr/>
        </p:nvSpPr>
        <p:spPr>
          <a:xfrm>
            <a:off x="3291840" y="5120640"/>
            <a:ext cx="502920" cy="502920"/>
          </a:xfrm>
          <a:prstGeom prst="ellipse">
            <a:avLst/>
          </a:prstGeom>
          <a:solidFill>
            <a:schemeClr val="accent2"/>
          </a:solidFill>
          <a:ln w="12700">
            <a:solidFill>
              <a:schemeClr val="accent2"/>
            </a:solidFill>
            <a:prstDash val="solid"/>
          </a:ln>
        </p:spPr>
      </p:sp>
      <p:sp>
        <p:nvSpPr>
          <p:cNvPr id="7" name="Text 5"/>
          <p:cNvSpPr txBox="1"/>
          <p:nvPr/>
        </p:nvSpPr>
        <p:spPr>
          <a:xfrm>
            <a:off x="3931920" y="5120640"/>
            <a:ext cx="1828800" cy="502920"/>
          </a:xfrm>
          <a:prstGeom prst="rect">
            <a:avLst/>
          </a:prstGeom>
          <a:noFill/>
          <a:ln/>
        </p:spPr>
        <p:txBody>
          <a:bodyPr wrap="square" lIns="0" tIns="0" rIns="0" bIns="0" rtlCol="0" anchor="ctr"/>
          <a:lstStyle/>
          <a:p>
            <a:pPr indent="0" marL="0">
              <a:buNone/>
            </a:pPr>
            <a:r>
              <a:rPr lang="en-US" sz="1800" b="1" dirty="0">
                <a:solidFill>
                  <a:schemeClr val="accent4"/>
                </a:solidFill>
              </a:rPr>
              <a:t>Dog</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The problem</a:t>
            </a:r>
            <a:endParaRPr lang="en-US" sz="3200" dirty="0"/>
          </a:p>
        </p:txBody>
      </p:sp>
      <p:sp>
        <p:nvSpPr>
          <p:cNvPr id="3" name="problem card"/>
          <p:cNvSpPr/>
          <p:nvPr/>
        </p:nvSpPr>
        <p:spPr>
          <a:xfrm>
            <a:off x="548640" y="1325880"/>
            <a:ext cx="6675120" cy="4754880"/>
          </a:xfrm>
          <a:prstGeom prst="roundRect">
            <a:avLst>
              <a:gd name="adj" fmla="val 2308"/>
            </a:avLst>
          </a:prstGeom>
          <a:solidFill>
            <a:schemeClr val="bg2"/>
          </a:solidFill>
          <a:ln w="12700">
            <a:solidFill>
              <a:schemeClr val="bg2"/>
            </a:solidFill>
            <a:prstDash val="solid"/>
          </a:ln>
        </p:spPr>
      </p:sp>
      <p:sp>
        <p:nvSpPr>
          <p:cNvPr id="4" name="Text 2"/>
          <p:cNvSpPr txBox="1"/>
          <p:nvPr/>
        </p:nvSpPr>
        <p:spPr>
          <a:xfrm>
            <a:off x="822960" y="1554480"/>
            <a:ext cx="6126480" cy="4297680"/>
          </a:xfrm>
          <a:prstGeom prst="rect">
            <a:avLst/>
          </a:prstGeom>
          <a:noFill/>
          <a:ln/>
        </p:spPr>
        <p:txBody>
          <a:bodyPr wrap="square" lIns="0" tIns="0" rIns="0" bIns="0" rtlCol="0" anchor="t"/>
          <a:lstStyle/>
          <a:p>
            <a:pPr indent="0" marL="0">
              <a:lnSpc>
                <a:spcPct val="115000"/>
              </a:lnSpc>
              <a:buNone/>
            </a:pPr>
            <a:r>
              <a:rPr lang="en-US" sz="1700" i="1" dirty="0">
                <a:solidFill>
                  <a:schemeClr val="tx1"/>
                </a:solidFill>
              </a:rPr>
              <a:t>“A cheetah starts from rest and accelerates uniformly as it chases prey, until it reaches its sustainable top speed exactly at the midpoint of the chase, after which it runs at that constant speed for the remainder. A pursuing dog, starting from rest at the same moment, instead accelerates uniformly over the entire distance, covering it in exactly the same total time as the cheetah. Find the ratio of the dog's acceleration to the cheetah's, and determine which animal is moving faster at the end of the chase, and by what factor.”</a:t>
            </a:r>
            <a:endParaRPr lang="en-US" sz="1700" dirty="0"/>
          </a:p>
        </p:txBody>
      </p:sp>
      <p:sp>
        <p:nvSpPr>
          <p:cNvPr id="5" name="Text 3"/>
          <p:cNvSpPr txBox="1"/>
          <p:nvPr/>
        </p:nvSpPr>
        <p:spPr>
          <a:xfrm>
            <a:off x="7680960" y="1325880"/>
            <a:ext cx="3931920" cy="457200"/>
          </a:xfrm>
          <a:prstGeom prst="rect">
            <a:avLst/>
          </a:prstGeom>
          <a:noFill/>
          <a:ln/>
        </p:spPr>
        <p:txBody>
          <a:bodyPr wrap="square" lIns="0" tIns="0" rIns="0" bIns="0" rtlCol="0" anchor="ctr"/>
          <a:lstStyle/>
          <a:p>
            <a:pPr indent="0" marL="0">
              <a:buNone/>
            </a:pPr>
            <a:r>
              <a:rPr lang="en-US" sz="2200" b="1" dirty="0">
                <a:solidFill>
                  <a:schemeClr val="tx1"/>
                </a:solidFill>
              </a:rPr>
              <a:t>What we need to find</a:t>
            </a:r>
            <a:endParaRPr lang="en-US" sz="2200" dirty="0"/>
          </a:p>
        </p:txBody>
      </p:sp>
      <p:sp>
        <p:nvSpPr>
          <p:cNvPr id="6" name="question 1 card"/>
          <p:cNvSpPr/>
          <p:nvPr/>
        </p:nvSpPr>
        <p:spPr>
          <a:xfrm>
            <a:off x="7680960" y="1965960"/>
            <a:ext cx="3931920" cy="1737360"/>
          </a:xfrm>
          <a:prstGeom prst="roundRect">
            <a:avLst>
              <a:gd name="adj" fmla="val 6316"/>
            </a:avLst>
          </a:prstGeom>
          <a:solidFill>
            <a:srgbClr val="FFFFFF"/>
          </a:solidFill>
          <a:ln w="12700">
            <a:solidFill>
              <a:srgbClr val="FFFFFF"/>
            </a:solidFill>
            <a:prstDash val="solid"/>
          </a:ln>
        </p:spPr>
      </p:sp>
      <p:sp>
        <p:nvSpPr>
          <p:cNvPr id="7" name="question 1 outline"/>
          <p:cNvSpPr/>
          <p:nvPr/>
        </p:nvSpPr>
        <p:spPr>
          <a:xfrm>
            <a:off x="7680960" y="1965960"/>
            <a:ext cx="3931920" cy="1737360"/>
          </a:xfrm>
          <a:prstGeom prst="roundRect">
            <a:avLst>
              <a:gd name="adj" fmla="val 6316"/>
            </a:avLst>
          </a:prstGeom>
          <a:solidFill>
            <a:srgbClr val="FFFFFF"/>
          </a:solidFill>
          <a:ln w="19050">
            <a:solidFill>
              <a:schemeClr val="accent1"/>
            </a:solidFill>
            <a:prstDash val="solid"/>
          </a:ln>
        </p:spPr>
      </p:sp>
      <p:sp>
        <p:nvSpPr>
          <p:cNvPr id="8" name="Text 6"/>
          <p:cNvSpPr txBox="1"/>
          <p:nvPr/>
        </p:nvSpPr>
        <p:spPr>
          <a:xfrm>
            <a:off x="7909560" y="2057400"/>
            <a:ext cx="3566160" cy="1554480"/>
          </a:xfrm>
          <a:prstGeom prst="rect">
            <a:avLst/>
          </a:prstGeom>
          <a:noFill/>
          <a:ln/>
        </p:spPr>
        <p:txBody>
          <a:bodyPr wrap="square" lIns="0" tIns="0" rIns="0" bIns="0" rtlCol="0" anchor="t"/>
          <a:lstStyle/>
          <a:p>
            <a:pPr indent="0" marL="0">
              <a:buNone/>
            </a:pPr>
            <a:r>
              <a:rPr lang="en-US" sz="2800" b="1" dirty="0">
                <a:solidFill>
                  <a:schemeClr val="accent3"/>
                </a:solidFill>
              </a:rPr>
              <a:t>1</a:t>
            </a:r>
            <a:endParaRPr lang="en-US" sz="2800" dirty="0"/>
          </a:p>
          <a:p>
            <a:pPr indent="0" marL="0">
              <a:buNone/>
            </a:pPr>
            <a:r>
              <a:rPr lang="en-US" sz="1700" dirty="0">
                <a:solidFill>
                  <a:schemeClr val="tx1"/>
                </a:solidFill>
              </a:rPr>
              <a:t>The ratio of the accelerations</a:t>
            </a:r>
            <a:endParaRPr lang="en-US" sz="2800" dirty="0"/>
          </a:p>
          <a:p>
            <a:pPr indent="0" marL="0">
              <a:buNone/>
            </a:pPr>
            <a:r>
              <a:rPr lang="en-US" sz="1700" b="1" dirty="0">
                <a:solidFill>
                  <a:schemeClr val="tx1"/>
                </a:solidFill>
              </a:rPr>
              <a:t>a</a:t>
            </a:r>
            <a:pPr indent="0" marL="0">
              <a:buNone/>
            </a:pPr>
            <a:r>
              <a:rPr lang="en-US" sz="1700" b="1" baseline="-40000" dirty="0">
                <a:solidFill>
                  <a:schemeClr val="tx1"/>
                </a:solidFill>
              </a:rPr>
              <a:t>dog</a:t>
            </a:r>
            <a:pPr indent="0" marL="0">
              <a:buNone/>
            </a:pPr>
            <a:r>
              <a:rPr lang="en-US" sz="1700" b="1" dirty="0">
                <a:solidFill>
                  <a:schemeClr val="tx1"/>
                </a:solidFill>
              </a:rPr>
              <a:t> / a</a:t>
            </a:r>
            <a:pPr indent="0" marL="0">
              <a:buNone/>
            </a:pPr>
            <a:r>
              <a:rPr lang="en-US" sz="1700" b="1" baseline="-40000" dirty="0">
                <a:solidFill>
                  <a:schemeClr val="tx1"/>
                </a:solidFill>
              </a:rPr>
              <a:t>cheetah</a:t>
            </a:r>
            <a:endParaRPr lang="en-US" sz="2800" dirty="0"/>
          </a:p>
        </p:txBody>
      </p:sp>
      <p:sp>
        <p:nvSpPr>
          <p:cNvPr id="9" name="question 2 outline"/>
          <p:cNvSpPr/>
          <p:nvPr/>
        </p:nvSpPr>
        <p:spPr>
          <a:xfrm>
            <a:off x="7680960" y="4069080"/>
            <a:ext cx="3931920" cy="2011680"/>
          </a:xfrm>
          <a:prstGeom prst="roundRect">
            <a:avLst>
              <a:gd name="adj" fmla="val 5455"/>
            </a:avLst>
          </a:prstGeom>
          <a:solidFill>
            <a:srgbClr val="FFFFFF"/>
          </a:solidFill>
          <a:ln w="19050">
            <a:solidFill>
              <a:schemeClr val="accent2"/>
            </a:solidFill>
            <a:prstDash val="solid"/>
          </a:ln>
        </p:spPr>
      </p:sp>
      <p:sp>
        <p:nvSpPr>
          <p:cNvPr id="10" name="Text 8"/>
          <p:cNvSpPr txBox="1"/>
          <p:nvPr/>
        </p:nvSpPr>
        <p:spPr>
          <a:xfrm>
            <a:off x="7909560" y="4160520"/>
            <a:ext cx="3566160" cy="1828800"/>
          </a:xfrm>
          <a:prstGeom prst="rect">
            <a:avLst/>
          </a:prstGeom>
          <a:noFill/>
          <a:ln/>
        </p:spPr>
        <p:txBody>
          <a:bodyPr wrap="square" lIns="0" tIns="0" rIns="0" bIns="0" rtlCol="0" anchor="t"/>
          <a:lstStyle/>
          <a:p>
            <a:pPr indent="0" marL="0">
              <a:buNone/>
            </a:pPr>
            <a:r>
              <a:rPr lang="en-US" sz="2800" b="1" dirty="0">
                <a:solidFill>
                  <a:schemeClr val="accent4"/>
                </a:solidFill>
              </a:rPr>
              <a:t>2</a:t>
            </a:r>
            <a:endParaRPr lang="en-US" sz="2800" dirty="0"/>
          </a:p>
          <a:p>
            <a:pPr indent="0" marL="0">
              <a:buNone/>
            </a:pPr>
            <a:r>
              <a:rPr lang="en-US" sz="1700" dirty="0">
                <a:solidFill>
                  <a:schemeClr val="tx1"/>
                </a:solidFill>
              </a:rPr>
              <a:t>Who is moving faster at the end of the chase,</a:t>
            </a:r>
            <a:endParaRPr lang="en-US" sz="2800" dirty="0"/>
          </a:p>
          <a:p>
            <a:pPr indent="0" marL="0">
              <a:buNone/>
            </a:pPr>
            <a:r>
              <a:rPr lang="en-US" sz="1700" b="1" dirty="0">
                <a:solidFill>
                  <a:schemeClr val="tx1"/>
                </a:solidFill>
              </a:rPr>
              <a:t>and by what factor?</a:t>
            </a:r>
            <a:endParaRPr lang="en-US" sz="28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Picture the chase</a:t>
            </a:r>
            <a:endParaRPr lang="en-US" sz="3200" dirty="0"/>
          </a:p>
        </p:txBody>
      </p:sp>
      <p:sp>
        <p:nvSpPr>
          <p:cNvPr id="3" name="Cheetah marker"/>
          <p:cNvSpPr/>
          <p:nvPr/>
        </p:nvSpPr>
        <p:spPr>
          <a:xfrm>
            <a:off x="548640" y="1691640"/>
            <a:ext cx="548640" cy="548640"/>
          </a:xfrm>
          <a:prstGeom prst="ellipse">
            <a:avLst/>
          </a:prstGeom>
          <a:solidFill>
            <a:schemeClr val="accent1"/>
          </a:solidFill>
          <a:ln w="12700">
            <a:solidFill>
              <a:schemeClr val="accent1"/>
            </a:solidFill>
            <a:prstDash val="solid"/>
          </a:ln>
        </p:spPr>
      </p:sp>
      <p:sp>
        <p:nvSpPr>
          <p:cNvPr id="4" name="Text 2"/>
          <p:cNvSpPr txBox="1"/>
          <p:nvPr/>
        </p:nvSpPr>
        <p:spPr>
          <a:xfrm>
            <a:off x="1188720" y="1691640"/>
            <a:ext cx="1097280" cy="548640"/>
          </a:xfrm>
          <a:prstGeom prst="rect">
            <a:avLst/>
          </a:prstGeom>
          <a:noFill/>
          <a:ln/>
        </p:spPr>
        <p:txBody>
          <a:bodyPr wrap="square" lIns="0" tIns="0" rIns="0" bIns="0" rtlCol="0" anchor="ctr"/>
          <a:lstStyle/>
          <a:p>
            <a:pPr indent="0" marL="0">
              <a:buNone/>
            </a:pPr>
            <a:r>
              <a:rPr lang="en-US" sz="1800" b="1" dirty="0">
                <a:solidFill>
                  <a:schemeClr val="accent3"/>
                </a:solidFill>
              </a:rPr>
              <a:t>Cheetah</a:t>
            </a:r>
            <a:endParaRPr lang="en-US" sz="1800" dirty="0"/>
          </a:p>
        </p:txBody>
      </p:sp>
      <p:sp>
        <p:nvSpPr>
          <p:cNvPr id="5" name="Dog marker"/>
          <p:cNvSpPr/>
          <p:nvPr/>
        </p:nvSpPr>
        <p:spPr>
          <a:xfrm>
            <a:off x="548640" y="3794760"/>
            <a:ext cx="548640" cy="548640"/>
          </a:xfrm>
          <a:prstGeom prst="ellipse">
            <a:avLst/>
          </a:prstGeom>
          <a:solidFill>
            <a:schemeClr val="accent2"/>
          </a:solidFill>
          <a:ln w="12700">
            <a:solidFill>
              <a:schemeClr val="accent2"/>
            </a:solidFill>
            <a:prstDash val="solid"/>
          </a:ln>
        </p:spPr>
      </p:sp>
      <p:sp>
        <p:nvSpPr>
          <p:cNvPr id="6" name="Text 4"/>
          <p:cNvSpPr txBox="1"/>
          <p:nvPr/>
        </p:nvSpPr>
        <p:spPr>
          <a:xfrm>
            <a:off x="1188720" y="3794760"/>
            <a:ext cx="1097280" cy="548640"/>
          </a:xfrm>
          <a:prstGeom prst="rect">
            <a:avLst/>
          </a:prstGeom>
          <a:noFill/>
          <a:ln/>
        </p:spPr>
        <p:txBody>
          <a:bodyPr wrap="square" lIns="0" tIns="0" rIns="0" bIns="0" rtlCol="0" anchor="ctr"/>
          <a:lstStyle/>
          <a:p>
            <a:pPr indent="0" marL="0">
              <a:buNone/>
            </a:pPr>
            <a:r>
              <a:rPr lang="en-US" sz="1800" b="1" dirty="0">
                <a:solidFill>
                  <a:schemeClr val="accent4"/>
                </a:solidFill>
              </a:rPr>
              <a:t>Dog</a:t>
            </a:r>
            <a:endParaRPr lang="en-US" sz="1800" dirty="0"/>
          </a:p>
        </p:txBody>
      </p:sp>
      <p:sp>
        <p:nvSpPr>
          <p:cNvPr id="7" name="cheetah speeding up"/>
          <p:cNvSpPr/>
          <p:nvPr/>
        </p:nvSpPr>
        <p:spPr>
          <a:xfrm>
            <a:off x="2377440" y="1965960"/>
            <a:ext cx="4434840" cy="0"/>
          </a:xfrm>
          <a:prstGeom prst="line">
            <a:avLst/>
          </a:prstGeom>
          <a:noFill/>
          <a:ln w="38100">
            <a:solidFill>
              <a:schemeClr val="accent1"/>
            </a:solidFill>
            <a:prstDash val="dash"/>
          </a:ln>
        </p:spPr>
      </p:sp>
      <p:sp>
        <p:nvSpPr>
          <p:cNvPr id="8" name="cheetah top speed"/>
          <p:cNvSpPr/>
          <p:nvPr/>
        </p:nvSpPr>
        <p:spPr>
          <a:xfrm>
            <a:off x="6812280" y="1965960"/>
            <a:ext cx="4434840" cy="0"/>
          </a:xfrm>
          <a:prstGeom prst="line">
            <a:avLst/>
          </a:prstGeom>
          <a:noFill/>
          <a:ln w="76200">
            <a:solidFill>
              <a:schemeClr val="accent1"/>
            </a:solidFill>
            <a:prstDash val="solid"/>
            <a:tailEnd type="triangle"/>
          </a:ln>
        </p:spPr>
      </p:sp>
      <p:sp>
        <p:nvSpPr>
          <p:cNvPr id="9" name="Text 7"/>
          <p:cNvSpPr txBox="1"/>
          <p:nvPr/>
        </p:nvSpPr>
        <p:spPr>
          <a:xfrm>
            <a:off x="2377440" y="1325880"/>
            <a:ext cx="4434840" cy="457200"/>
          </a:xfrm>
          <a:prstGeom prst="rect">
            <a:avLst/>
          </a:prstGeom>
          <a:noFill/>
          <a:ln/>
        </p:spPr>
        <p:txBody>
          <a:bodyPr wrap="square" lIns="0" tIns="0" rIns="0" bIns="0" rtlCol="0" anchor="ctr"/>
          <a:lstStyle/>
          <a:p>
            <a:pPr algn="ctr" indent="0" marL="0">
              <a:buNone/>
            </a:pPr>
            <a:r>
              <a:rPr lang="en-US" sz="1500" dirty="0">
                <a:solidFill>
                  <a:schemeClr val="accent3"/>
                </a:solidFill>
              </a:rPr>
              <a:t>speeding up (acceleration a</a:t>
            </a:r>
            <a:pPr algn="ctr" indent="0" marL="0">
              <a:buNone/>
            </a:pPr>
            <a:r>
              <a:rPr lang="en-US" sz="1500" baseline="-40000" dirty="0">
                <a:solidFill>
                  <a:schemeClr val="accent3"/>
                </a:solidFill>
              </a:rPr>
              <a:t>c</a:t>
            </a:r>
            <a:pPr algn="ctr" indent="0" marL="0">
              <a:buNone/>
            </a:pPr>
            <a:r>
              <a:rPr lang="en-US" sz="1500" dirty="0">
                <a:solidFill>
                  <a:schemeClr val="accent3"/>
                </a:solidFill>
              </a:rPr>
              <a:t>)</a:t>
            </a:r>
            <a:endParaRPr lang="en-US" sz="1500" dirty="0"/>
          </a:p>
        </p:txBody>
      </p:sp>
      <p:sp>
        <p:nvSpPr>
          <p:cNvPr id="10" name="Text 8"/>
          <p:cNvSpPr txBox="1"/>
          <p:nvPr/>
        </p:nvSpPr>
        <p:spPr>
          <a:xfrm>
            <a:off x="6812280" y="1325880"/>
            <a:ext cx="4434840" cy="457200"/>
          </a:xfrm>
          <a:prstGeom prst="rect">
            <a:avLst/>
          </a:prstGeom>
          <a:noFill/>
          <a:ln/>
        </p:spPr>
        <p:txBody>
          <a:bodyPr wrap="square" lIns="0" tIns="0" rIns="0" bIns="0" rtlCol="0" anchor="ctr"/>
          <a:lstStyle/>
          <a:p>
            <a:pPr algn="ctr" indent="0" marL="0">
              <a:buNone/>
            </a:pPr>
            <a:r>
              <a:rPr lang="en-US" sz="1500" dirty="0">
                <a:solidFill>
                  <a:schemeClr val="accent3"/>
                </a:solidFill>
              </a:rPr>
              <a:t>constant top speed V</a:t>
            </a:r>
            <a:endParaRPr lang="en-US" sz="1500" dirty="0"/>
          </a:p>
        </p:txBody>
      </p:sp>
      <p:sp>
        <p:nvSpPr>
          <p:cNvPr id="11" name="dog speeding up"/>
          <p:cNvSpPr/>
          <p:nvPr/>
        </p:nvSpPr>
        <p:spPr>
          <a:xfrm>
            <a:off x="2377440" y="4069080"/>
            <a:ext cx="8869680" cy="0"/>
          </a:xfrm>
          <a:prstGeom prst="line">
            <a:avLst/>
          </a:prstGeom>
          <a:noFill/>
          <a:ln w="38100">
            <a:solidFill>
              <a:schemeClr val="accent2"/>
            </a:solidFill>
            <a:prstDash val="dash"/>
            <a:tailEnd type="triangle"/>
          </a:ln>
        </p:spPr>
      </p:sp>
      <p:sp>
        <p:nvSpPr>
          <p:cNvPr id="12" name="Text 10"/>
          <p:cNvSpPr txBox="1"/>
          <p:nvPr/>
        </p:nvSpPr>
        <p:spPr>
          <a:xfrm>
            <a:off x="2377440" y="3429000"/>
            <a:ext cx="8869680" cy="457200"/>
          </a:xfrm>
          <a:prstGeom prst="rect">
            <a:avLst/>
          </a:prstGeom>
          <a:noFill/>
          <a:ln/>
        </p:spPr>
        <p:txBody>
          <a:bodyPr wrap="square" lIns="0" tIns="0" rIns="0" bIns="0" rtlCol="0" anchor="ctr"/>
          <a:lstStyle/>
          <a:p>
            <a:pPr algn="ctr" indent="0" marL="0">
              <a:buNone/>
            </a:pPr>
            <a:r>
              <a:rPr lang="en-US" sz="1500" dirty="0">
                <a:solidFill>
                  <a:schemeClr val="accent4"/>
                </a:solidFill>
              </a:rPr>
              <a:t>speeding up the whole way (acceleration a</a:t>
            </a:r>
            <a:pPr algn="ctr" indent="0" marL="0">
              <a:buNone/>
            </a:pPr>
            <a:r>
              <a:rPr lang="en-US" sz="1500" baseline="-40000" dirty="0">
                <a:solidFill>
                  <a:schemeClr val="accent4"/>
                </a:solidFill>
              </a:rPr>
              <a:t>d</a:t>
            </a:r>
            <a:pPr algn="ctr" indent="0" marL="0">
              <a:buNone/>
            </a:pPr>
            <a:r>
              <a:rPr lang="en-US" sz="1500" dirty="0">
                <a:solidFill>
                  <a:schemeClr val="accent4"/>
                </a:solidFill>
              </a:rPr>
              <a:t>)</a:t>
            </a:r>
            <a:endParaRPr lang="en-US" sz="1500" dirty="0"/>
          </a:p>
        </p:txBody>
      </p:sp>
      <p:sp>
        <p:nvSpPr>
          <p:cNvPr id="13" name="marker line 0"/>
          <p:cNvSpPr/>
          <p:nvPr/>
        </p:nvSpPr>
        <p:spPr>
          <a:xfrm>
            <a:off x="2377440" y="1691640"/>
            <a:ext cx="0" cy="2743200"/>
          </a:xfrm>
          <a:prstGeom prst="line">
            <a:avLst/>
          </a:prstGeom>
          <a:noFill/>
          <a:ln w="12700">
            <a:solidFill>
              <a:srgbClr val="9CA3AF"/>
            </a:solidFill>
            <a:prstDash val="sysDot"/>
          </a:ln>
        </p:spPr>
      </p:sp>
      <p:sp>
        <p:nvSpPr>
          <p:cNvPr id="14" name="Text 12"/>
          <p:cNvSpPr txBox="1"/>
          <p:nvPr/>
        </p:nvSpPr>
        <p:spPr>
          <a:xfrm>
            <a:off x="1463040" y="4526280"/>
            <a:ext cx="1828800" cy="685800"/>
          </a:xfrm>
          <a:prstGeom prst="rect">
            <a:avLst/>
          </a:prstGeom>
          <a:noFill/>
          <a:ln/>
        </p:spPr>
        <p:txBody>
          <a:bodyPr wrap="square" lIns="0" tIns="0" rIns="0" bIns="0" rtlCol="0" anchor="ctr"/>
          <a:lstStyle/>
          <a:p>
            <a:pPr algn="ctr" indent="0" marL="0">
              <a:buNone/>
            </a:pPr>
            <a:r>
              <a:rPr lang="en-US" sz="1400" dirty="0">
                <a:solidFill>
                  <a:schemeClr val="tx2"/>
                </a:solidFill>
              </a:rPr>
              <a:t>Start</a:t>
            </a:r>
            <a:endParaRPr lang="en-US" sz="1400" dirty="0"/>
          </a:p>
          <a:p>
            <a:pPr algn="ctr" indent="0" marL="0">
              <a:buNone/>
            </a:pPr>
            <a:r>
              <a:rPr lang="en-US" sz="1400" dirty="0">
                <a:solidFill>
                  <a:schemeClr val="tx2"/>
                </a:solidFill>
              </a:rPr>
              <a:t>(both at rest)</a:t>
            </a:r>
            <a:endParaRPr lang="en-US" sz="1400" dirty="0"/>
          </a:p>
        </p:txBody>
      </p:sp>
      <p:sp>
        <p:nvSpPr>
          <p:cNvPr id="15" name="marker line 1"/>
          <p:cNvSpPr/>
          <p:nvPr/>
        </p:nvSpPr>
        <p:spPr>
          <a:xfrm>
            <a:off x="6812280" y="1691640"/>
            <a:ext cx="0" cy="2743200"/>
          </a:xfrm>
          <a:prstGeom prst="line">
            <a:avLst/>
          </a:prstGeom>
          <a:noFill/>
          <a:ln w="12700">
            <a:solidFill>
              <a:srgbClr val="9CA3AF"/>
            </a:solidFill>
            <a:prstDash val="sysDot"/>
          </a:ln>
        </p:spPr>
      </p:sp>
      <p:sp>
        <p:nvSpPr>
          <p:cNvPr id="16" name="Text 14"/>
          <p:cNvSpPr txBox="1"/>
          <p:nvPr/>
        </p:nvSpPr>
        <p:spPr>
          <a:xfrm>
            <a:off x="5897880" y="4526280"/>
            <a:ext cx="1828800" cy="685800"/>
          </a:xfrm>
          <a:prstGeom prst="rect">
            <a:avLst/>
          </a:prstGeom>
          <a:noFill/>
          <a:ln/>
        </p:spPr>
        <p:txBody>
          <a:bodyPr wrap="square" lIns="0" tIns="0" rIns="0" bIns="0" rtlCol="0" anchor="ctr"/>
          <a:lstStyle/>
          <a:p>
            <a:pPr algn="ctr" indent="0" marL="0">
              <a:buNone/>
            </a:pPr>
            <a:r>
              <a:rPr lang="en-US" sz="1400" dirty="0">
                <a:solidFill>
                  <a:schemeClr val="tx2"/>
                </a:solidFill>
              </a:rPr>
              <a:t>Midpoint</a:t>
            </a:r>
            <a:endParaRPr lang="en-US" sz="1400" dirty="0"/>
          </a:p>
          <a:p>
            <a:pPr algn="ctr" indent="0" marL="0">
              <a:buNone/>
            </a:pPr>
            <a:r>
              <a:rPr lang="en-US" sz="1400" dirty="0">
                <a:solidFill>
                  <a:schemeClr val="tx2"/>
                </a:solidFill>
              </a:rPr>
              <a:t>D/2</a:t>
            </a:r>
            <a:endParaRPr lang="en-US" sz="1400" dirty="0"/>
          </a:p>
        </p:txBody>
      </p:sp>
      <p:sp>
        <p:nvSpPr>
          <p:cNvPr id="17" name="marker line 2"/>
          <p:cNvSpPr/>
          <p:nvPr/>
        </p:nvSpPr>
        <p:spPr>
          <a:xfrm>
            <a:off x="11247120" y="1691640"/>
            <a:ext cx="0" cy="2743200"/>
          </a:xfrm>
          <a:prstGeom prst="line">
            <a:avLst/>
          </a:prstGeom>
          <a:noFill/>
          <a:ln w="12700">
            <a:solidFill>
              <a:srgbClr val="9CA3AF"/>
            </a:solidFill>
            <a:prstDash val="sysDot"/>
          </a:ln>
        </p:spPr>
      </p:sp>
      <p:sp>
        <p:nvSpPr>
          <p:cNvPr id="18" name="Text 16"/>
          <p:cNvSpPr txBox="1"/>
          <p:nvPr/>
        </p:nvSpPr>
        <p:spPr>
          <a:xfrm>
            <a:off x="10332720" y="4526280"/>
            <a:ext cx="1828800" cy="685800"/>
          </a:xfrm>
          <a:prstGeom prst="rect">
            <a:avLst/>
          </a:prstGeom>
          <a:noFill/>
          <a:ln/>
        </p:spPr>
        <p:txBody>
          <a:bodyPr wrap="square" lIns="0" tIns="0" rIns="0" bIns="0" rtlCol="0" anchor="ctr"/>
          <a:lstStyle/>
          <a:p>
            <a:pPr algn="ctr" indent="0" marL="0">
              <a:buNone/>
            </a:pPr>
            <a:r>
              <a:rPr lang="en-US" sz="1400" dirty="0">
                <a:solidFill>
                  <a:schemeClr val="tx2"/>
                </a:solidFill>
              </a:rPr>
              <a:t>Finish</a:t>
            </a:r>
            <a:endParaRPr lang="en-US" sz="1400" dirty="0"/>
          </a:p>
          <a:p>
            <a:pPr algn="ctr" indent="0" marL="0">
              <a:buNone/>
            </a:pPr>
            <a:r>
              <a:rPr lang="en-US" sz="1400" dirty="0">
                <a:solidFill>
                  <a:schemeClr val="tx2"/>
                </a:solidFill>
              </a:rPr>
              <a:t>D</a:t>
            </a:r>
            <a:endParaRPr lang="en-US" sz="1400" dirty="0"/>
          </a:p>
        </p:txBody>
      </p:sp>
      <p:sp>
        <p:nvSpPr>
          <p:cNvPr id="19" name="key idea card"/>
          <p:cNvSpPr/>
          <p:nvPr/>
        </p:nvSpPr>
        <p:spPr>
          <a:xfrm>
            <a:off x="548640" y="5440680"/>
            <a:ext cx="11064240" cy="822960"/>
          </a:xfrm>
          <a:prstGeom prst="roundRect">
            <a:avLst>
              <a:gd name="adj" fmla="val 13333"/>
            </a:avLst>
          </a:prstGeom>
          <a:solidFill>
            <a:schemeClr val="bg2"/>
          </a:solidFill>
          <a:ln w="12700">
            <a:solidFill>
              <a:schemeClr val="bg2"/>
            </a:solidFill>
            <a:prstDash val="solid"/>
          </a:ln>
        </p:spPr>
      </p:sp>
      <p:sp>
        <p:nvSpPr>
          <p:cNvPr id="20" name="Text 18"/>
          <p:cNvSpPr txBox="1"/>
          <p:nvPr/>
        </p:nvSpPr>
        <p:spPr>
          <a:xfrm>
            <a:off x="822960" y="5440680"/>
            <a:ext cx="10515600" cy="822960"/>
          </a:xfrm>
          <a:prstGeom prst="rect">
            <a:avLst/>
          </a:prstGeom>
          <a:noFill/>
          <a:ln/>
        </p:spPr>
        <p:txBody>
          <a:bodyPr wrap="square" lIns="0" tIns="0" rIns="0" bIns="0" rtlCol="0" anchor="ctr"/>
          <a:lstStyle/>
          <a:p>
            <a:pPr indent="0" marL="0">
              <a:buNone/>
            </a:pPr>
            <a:r>
              <a:rPr lang="en-US" sz="1800" dirty="0">
                <a:solidFill>
                  <a:schemeClr val="tx1"/>
                </a:solidFill>
              </a:rPr>
              <a:t>Same start, same distance D, same finish time T, but two very different ways of running it.</a:t>
            </a:r>
            <a:endParaRPr lang="en-US" sz="18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What we know, and the symbols we use</a:t>
            </a:r>
            <a:endParaRPr lang="en-US" sz="3200" dirty="0"/>
          </a:p>
        </p:txBody>
      </p:sp>
      <p:sp>
        <p:nvSpPr>
          <p:cNvPr id="3" name="Text 1"/>
          <p:cNvSpPr txBox="1"/>
          <p:nvPr/>
        </p:nvSpPr>
        <p:spPr>
          <a:xfrm>
            <a:off x="548640" y="1325880"/>
            <a:ext cx="5852160" cy="484632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Given in the problem</a:t>
            </a:r>
            <a:endParaRPr lang="en-US" sz="2000" dirty="0"/>
          </a:p>
          <a:p>
            <a:pPr indent="0" marL="0">
              <a:spcAft>
                <a:spcPts val="800"/>
              </a:spcAft>
              <a:buNone/>
            </a:pPr>
            <a:r>
              <a:rPr lang="en-US" sz="1600" dirty="0">
                <a:solidFill>
                  <a:schemeClr val="tx1"/>
                </a:solidFill>
              </a:rPr>
              <a:t>Both animals start from rest (u = 0).</a:t>
            </a:r>
            <a:endParaRPr lang="en-US" sz="2000" dirty="0"/>
          </a:p>
          <a:p>
            <a:pPr indent="0" marL="0">
              <a:spcAft>
                <a:spcPts val="800"/>
              </a:spcAft>
              <a:buNone/>
            </a:pPr>
            <a:r>
              <a:rPr lang="en-US" sz="1600" dirty="0">
                <a:solidFill>
                  <a:schemeClr val="tx1"/>
                </a:solidFill>
              </a:rPr>
              <a:t>Cheetah: uniform acceleration for the first half of the distance, then constant speed V.</a:t>
            </a:r>
            <a:endParaRPr lang="en-US" sz="2000" dirty="0"/>
          </a:p>
          <a:p>
            <a:pPr indent="0" marL="0">
              <a:spcAft>
                <a:spcPts val="800"/>
              </a:spcAft>
              <a:buNone/>
            </a:pPr>
            <a:r>
              <a:rPr lang="en-US" sz="1600" dirty="0">
                <a:solidFill>
                  <a:schemeClr val="tx1"/>
                </a:solidFill>
              </a:rPr>
              <a:t>Dog: uniform acceleration for the whole distance.</a:t>
            </a:r>
            <a:endParaRPr lang="en-US" sz="2000" dirty="0"/>
          </a:p>
          <a:p>
            <a:pPr indent="0" marL="0">
              <a:spcAft>
                <a:spcPts val="800"/>
              </a:spcAft>
              <a:buNone/>
            </a:pPr>
            <a:r>
              <a:rPr lang="en-US" sz="1600" dirty="0">
                <a:solidFill>
                  <a:schemeClr val="tx1"/>
                </a:solidFill>
              </a:rPr>
              <a:t>Both cover the same distance D in the same total time T.</a:t>
            </a:r>
            <a:endParaRPr lang="en-US" sz="2000" dirty="0"/>
          </a:p>
          <a:p>
            <a:pPr indent="0" marL="0">
              <a:spcAft>
                <a:spcPts val="800"/>
              </a:spcAft>
              <a:buNone/>
            </a:pPr>
            <a:r>
              <a:rPr lang="en-US" sz="2000" b="1" dirty="0">
                <a:solidFill>
                  <a:schemeClr val="tx1"/>
                </a:solidFill>
              </a:rPr>
              <a:t>Our assumption</a:t>
            </a:r>
            <a:endParaRPr lang="en-US" sz="2000" dirty="0"/>
          </a:p>
          <a:p>
            <a:pPr indent="0" marL="0">
              <a:spcAft>
                <a:spcPts val="800"/>
              </a:spcAft>
              <a:buNone/>
            </a:pPr>
            <a:r>
              <a:rPr lang="en-US" sz="1600" dirty="0">
                <a:solidFill>
                  <a:schemeClr val="tx1"/>
                </a:solidFill>
              </a:rPr>
              <a:t>“Midpoint of the chase” means halfway along the distance (D/2).</a:t>
            </a:r>
            <a:endParaRPr lang="en-US" sz="2000" dirty="0"/>
          </a:p>
        </p:txBody>
      </p:sp>
      <p:graphicFrame>
        <p:nvGraphicFramePr>
          <p:cNvPr id="5" name="symbols table"/>
          <p:cNvGraphicFramePr>
            <a:graphicFrameLocks noGrp="1"/>
          </p:cNvGraphicFramePr>
          <p:nvPr>
            <p:extLst>
              <p:ext uri="{D42A27DB-BD31-4B8C-83A1-F6EECF244321}">
                <p14:modId xmlns:p14="http://schemas.microsoft.com/office/powerpoint/2010/main" val="1579011935"/>
              </p:ext>
            </p:extLst>
          </p:nvPr>
        </p:nvGraphicFramePr>
        <p:xfrm>
          <a:off x="6858000" y="1325880"/>
          <a:ext cx="4754880" cy="914400"/>
        </p:xfrm>
        <a:graphic>
          <a:graphicData uri="http://schemas.openxmlformats.org/drawingml/2006/table">
            <a:tbl>
              <a:tblPr/>
              <a:tblGrid>
                <a:gridCol w="1188720"/>
                <a:gridCol w="3566160"/>
              </a:tblGrid>
              <a:tr h="502920">
                <a:tc>
                  <a:txBody>
                    <a:bodyPr/>
                    <a:lstStyle/>
                    <a:p>
                      <a:pPr indent="0" marL="0">
                        <a:buNone/>
                      </a:pPr>
                      <a:r>
                        <a:rPr lang="en-US" sz="1600" b="1" dirty="0">
                          <a:solidFill>
                            <a:srgbClr val="FFFFFF"/>
                          </a:solidFill>
                        </a:rPr>
                        <a:t>Symbol</a:t>
                      </a: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374151"/>
                    </a:solidFill>
                  </a:tcPr>
                </a:tc>
                <a:tc>
                  <a:txBody>
                    <a:bodyPr/>
                    <a:lstStyle/>
                    <a:p>
                      <a:pPr indent="0" marL="0">
                        <a:buNone/>
                      </a:pPr>
                      <a:r>
                        <a:rPr lang="en-US" sz="1600" b="1" dirty="0">
                          <a:solidFill>
                            <a:srgbClr val="FFFFFF"/>
                          </a:solidFill>
                        </a:rPr>
                        <a:t>Meaning</a:t>
                      </a: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374151"/>
                    </a:solidFill>
                  </a:tcPr>
                </a:tc>
              </a:tr>
              <a:tr h="502920">
                <a:tc>
                  <a:txBody>
                    <a:bodyPr/>
                    <a:lstStyle/>
                    <a:p>
                      <a:pPr indent="0" marL="0">
                        <a:buNone/>
                      </a:pPr>
                      <a:r>
                        <a:rPr lang="en-US" sz="1600" b="1" dirty="0">
                          <a:solidFill>
                            <a:srgbClr val="1F2937"/>
                          </a:solidFill>
                        </a:rPr>
                        <a:t>D</a:t>
                      </a:r>
                      <a:endParaRPr lang="en-US" sz="12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600" dirty="0">
                          <a:solidFill>
                            <a:srgbClr val="1F2937"/>
                          </a:solidFill>
                        </a:rPr>
                        <a:t>total distance of the chase</a:t>
                      </a: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02920">
                <a:tc>
                  <a:txBody>
                    <a:bodyPr/>
                    <a:lstStyle/>
                    <a:p>
                      <a:pPr indent="0" marL="0">
                        <a:buNone/>
                      </a:pPr>
                      <a:r>
                        <a:rPr lang="en-US" sz="1600" b="1" dirty="0">
                          <a:solidFill>
                            <a:srgbClr val="1F2937"/>
                          </a:solidFill>
                        </a:rPr>
                        <a:t>V</a:t>
                      </a:r>
                      <a:endParaRPr lang="en-US" sz="12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600" dirty="0">
                          <a:solidFill>
                            <a:srgbClr val="1F2937"/>
                          </a:solidFill>
                        </a:rPr>
                        <a:t>cheetah's top speed</a:t>
                      </a: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02920">
                <a:tc>
                  <a:txBody>
                    <a:bodyPr/>
                    <a:lstStyle/>
                    <a:p>
                      <a:pPr indent="0" marL="0">
                        <a:buNone/>
                      </a:pPr>
                      <a:r>
                        <a:rPr lang="en-US" sz="1600" b="1" dirty="0">
                          <a:solidFill>
                            <a:srgbClr val="1F2937"/>
                          </a:solidFill>
                        </a:rPr>
                        <a:t>T</a:t>
                      </a:r>
                      <a:endParaRPr lang="en-US" sz="12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600" dirty="0">
                          <a:solidFill>
                            <a:srgbClr val="1F2937"/>
                          </a:solidFill>
                        </a:rPr>
                        <a:t>total time of the chase</a:t>
                      </a: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02920">
                <a:tc>
                  <a:txBody>
                    <a:bodyPr/>
                    <a:lstStyle/>
                    <a:p>
                      <a:pPr indent="0" marL="0">
                        <a:buNone/>
                      </a:pPr>
                      <a:r>
                        <a:rPr lang="en-US" sz="1600" b="1" dirty="0">
                          <a:solidFill>
                            <a:srgbClr val="1F2937"/>
                          </a:solidFill>
                        </a:rPr>
                        <a:t>a</a:t>
                      </a:r>
                      <a:pPr indent="0" marL="0">
                        <a:buNone/>
                      </a:pPr>
                      <a:r>
                        <a:rPr lang="en-US" sz="1600" b="1" baseline="-40000" dirty="0">
                          <a:solidFill>
                            <a:srgbClr val="1F2937"/>
                          </a:solidFill>
                        </a:rPr>
                        <a:t>c</a:t>
                      </a:r>
                      <a:endParaRPr lang="en-US" sz="12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600" dirty="0">
                          <a:solidFill>
                            <a:srgbClr val="1F2937"/>
                          </a:solidFill>
                        </a:rPr>
                        <a:t>cheetah's acceleration</a:t>
                      </a: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02920">
                <a:tc>
                  <a:txBody>
                    <a:bodyPr/>
                    <a:lstStyle/>
                    <a:p>
                      <a:pPr indent="0" marL="0">
                        <a:buNone/>
                      </a:pPr>
                      <a:r>
                        <a:rPr lang="en-US" sz="1600" b="1" dirty="0">
                          <a:solidFill>
                            <a:srgbClr val="1F2937"/>
                          </a:solidFill>
                        </a:rPr>
                        <a:t>a</a:t>
                      </a:r>
                      <a:pPr indent="0" marL="0">
                        <a:buNone/>
                      </a:pPr>
                      <a:r>
                        <a:rPr lang="en-US" sz="1600" b="1" baseline="-40000" dirty="0">
                          <a:solidFill>
                            <a:srgbClr val="1F2937"/>
                          </a:solidFill>
                        </a:rPr>
                        <a:t>d</a:t>
                      </a:r>
                      <a:endParaRPr lang="en-US" sz="12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600" dirty="0">
                          <a:solidFill>
                            <a:srgbClr val="1F2937"/>
                          </a:solidFill>
                        </a:rPr>
                        <a:t>dog's acceleration</a:t>
                      </a: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02920">
                <a:tc>
                  <a:txBody>
                    <a:bodyPr/>
                    <a:lstStyle/>
                    <a:p>
                      <a:pPr indent="0" marL="0">
                        <a:buNone/>
                      </a:pPr>
                      <a:r>
                        <a:rPr lang="en-US" sz="1600" b="1" dirty="0">
                          <a:solidFill>
                            <a:srgbClr val="1F2937"/>
                          </a:solidFill>
                        </a:rPr>
                        <a:t>t</a:t>
                      </a:r>
                      <a:pPr indent="0" marL="0">
                        <a:buNone/>
                      </a:pPr>
                      <a:r>
                        <a:rPr lang="en-US" sz="1600" b="1" baseline="-40000" dirty="0">
                          <a:solidFill>
                            <a:srgbClr val="1F2937"/>
                          </a:solidFill>
                        </a:rPr>
                        <a:t>1</a:t>
                      </a:r>
                      <a:endParaRPr lang="en-US" sz="12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600" dirty="0">
                          <a:solidFill>
                            <a:srgbClr val="1F2937"/>
                          </a:solidFill>
                        </a:rPr>
                        <a:t>time for the cheetah to reach V</a:t>
                      </a: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Our toolbox: the equations of uniform acceleration</a:t>
            </a:r>
            <a:endParaRPr lang="en-US" sz="3200" dirty="0"/>
          </a:p>
        </p:txBody>
      </p:sp>
      <p:sp>
        <p:nvSpPr>
          <p:cNvPr id="3" name="equation card 1"/>
          <p:cNvSpPr/>
          <p:nvPr/>
        </p:nvSpPr>
        <p:spPr>
          <a:xfrm>
            <a:off x="548640" y="1417320"/>
            <a:ext cx="3474720" cy="2103120"/>
          </a:xfrm>
          <a:prstGeom prst="roundRect">
            <a:avLst>
              <a:gd name="adj" fmla="val 5217"/>
            </a:avLst>
          </a:prstGeom>
          <a:solidFill>
            <a:schemeClr val="bg2"/>
          </a:solidFill>
          <a:ln w="12700">
            <a:solidFill>
              <a:schemeClr val="bg2"/>
            </a:solidFill>
            <a:prstDash val="solid"/>
          </a:ln>
        </p:spPr>
      </p:sp>
      <p:sp>
        <p:nvSpPr>
          <p:cNvPr id="4" name="Text 2"/>
          <p:cNvSpPr txBox="1"/>
          <p:nvPr/>
        </p:nvSpPr>
        <p:spPr>
          <a:xfrm>
            <a:off x="548640" y="1600200"/>
            <a:ext cx="3474720" cy="1005840"/>
          </a:xfrm>
          <a:prstGeom prst="rect">
            <a:avLst/>
          </a:prstGeom>
          <a:noFill/>
          <a:ln/>
        </p:spPr>
        <p:txBody>
          <a:bodyPr wrap="square" lIns="0" tIns="0" rIns="0" bIns="0" rtlCol="0" anchor="ctr"/>
          <a:lstStyle/>
          <a:p>
            <a:pPr algn="ctr" indent="0" marL="0">
              <a:buNone/>
            </a:pPr>
            <a:r>
              <a:rPr lang="en-US" sz="2800" b="1" dirty="0">
                <a:solidFill>
                  <a:schemeClr val="tx1"/>
                </a:solidFill>
              </a:rPr>
              <a:t>v = u + at</a:t>
            </a:r>
            <a:endParaRPr lang="en-US" sz="2800" dirty="0"/>
          </a:p>
        </p:txBody>
      </p:sp>
      <p:sp>
        <p:nvSpPr>
          <p:cNvPr id="5" name="Text 3"/>
          <p:cNvSpPr txBox="1"/>
          <p:nvPr/>
        </p:nvSpPr>
        <p:spPr>
          <a:xfrm>
            <a:off x="548640" y="2651760"/>
            <a:ext cx="3474720" cy="640080"/>
          </a:xfrm>
          <a:prstGeom prst="rect">
            <a:avLst/>
          </a:prstGeom>
          <a:noFill/>
          <a:ln/>
        </p:spPr>
        <p:txBody>
          <a:bodyPr wrap="square" lIns="0" tIns="0" rIns="0" bIns="0" rtlCol="0" anchor="ctr"/>
          <a:lstStyle/>
          <a:p>
            <a:pPr algn="ctr" indent="0" marL="0">
              <a:buNone/>
            </a:pPr>
            <a:r>
              <a:rPr lang="en-US" sz="1600" dirty="0">
                <a:solidFill>
                  <a:schemeClr val="tx2"/>
                </a:solidFill>
              </a:rPr>
              <a:t>speed after time t</a:t>
            </a:r>
            <a:endParaRPr lang="en-US" sz="1600" dirty="0"/>
          </a:p>
        </p:txBody>
      </p:sp>
      <p:sp>
        <p:nvSpPr>
          <p:cNvPr id="6" name="equation card 2"/>
          <p:cNvSpPr/>
          <p:nvPr/>
        </p:nvSpPr>
        <p:spPr>
          <a:xfrm>
            <a:off x="4297680" y="1417320"/>
            <a:ext cx="3474720" cy="2103120"/>
          </a:xfrm>
          <a:prstGeom prst="roundRect">
            <a:avLst>
              <a:gd name="adj" fmla="val 5217"/>
            </a:avLst>
          </a:prstGeom>
          <a:solidFill>
            <a:schemeClr val="bg2"/>
          </a:solidFill>
          <a:ln w="12700">
            <a:solidFill>
              <a:schemeClr val="bg2"/>
            </a:solidFill>
            <a:prstDash val="solid"/>
          </a:ln>
        </p:spPr>
      </p:sp>
      <p:sp>
        <p:nvSpPr>
          <p:cNvPr id="7" name="Text 5"/>
          <p:cNvSpPr txBox="1"/>
          <p:nvPr/>
        </p:nvSpPr>
        <p:spPr>
          <a:xfrm>
            <a:off x="4297680" y="1600200"/>
            <a:ext cx="3474720" cy="1005840"/>
          </a:xfrm>
          <a:prstGeom prst="rect">
            <a:avLst/>
          </a:prstGeom>
          <a:noFill/>
          <a:ln/>
        </p:spPr>
        <p:txBody>
          <a:bodyPr wrap="square" lIns="0" tIns="0" rIns="0" bIns="0" rtlCol="0" anchor="ctr"/>
          <a:lstStyle/>
          <a:p>
            <a:pPr algn="ctr" indent="0" marL="0">
              <a:buNone/>
            </a:pPr>
            <a:r>
              <a:rPr lang="en-US" sz="2800" b="1" dirty="0">
                <a:solidFill>
                  <a:schemeClr val="tx1"/>
                </a:solidFill>
              </a:rPr>
              <a:t>s = ut + ½at</a:t>
            </a:r>
            <a:pPr algn="ctr" indent="0" marL="0">
              <a:buNone/>
            </a:pPr>
            <a:r>
              <a:rPr lang="en-US" sz="2800" b="1" baseline="30000" dirty="0">
                <a:solidFill>
                  <a:schemeClr val="tx1"/>
                </a:solidFill>
              </a:rPr>
              <a:t>2</a:t>
            </a:r>
            <a:endParaRPr lang="en-US" sz="2800" dirty="0"/>
          </a:p>
        </p:txBody>
      </p:sp>
      <p:sp>
        <p:nvSpPr>
          <p:cNvPr id="8" name="Text 6"/>
          <p:cNvSpPr txBox="1"/>
          <p:nvPr/>
        </p:nvSpPr>
        <p:spPr>
          <a:xfrm>
            <a:off x="4297680" y="2651760"/>
            <a:ext cx="3474720" cy="640080"/>
          </a:xfrm>
          <a:prstGeom prst="rect">
            <a:avLst/>
          </a:prstGeom>
          <a:noFill/>
          <a:ln/>
        </p:spPr>
        <p:txBody>
          <a:bodyPr wrap="square" lIns="0" tIns="0" rIns="0" bIns="0" rtlCol="0" anchor="ctr"/>
          <a:lstStyle/>
          <a:p>
            <a:pPr algn="ctr" indent="0" marL="0">
              <a:buNone/>
            </a:pPr>
            <a:r>
              <a:rPr lang="en-US" sz="1600" dirty="0">
                <a:solidFill>
                  <a:schemeClr val="tx2"/>
                </a:solidFill>
              </a:rPr>
              <a:t>distance after time t</a:t>
            </a:r>
            <a:endParaRPr lang="en-US" sz="1600" dirty="0"/>
          </a:p>
        </p:txBody>
      </p:sp>
      <p:sp>
        <p:nvSpPr>
          <p:cNvPr id="9" name="equation card 3"/>
          <p:cNvSpPr/>
          <p:nvPr/>
        </p:nvSpPr>
        <p:spPr>
          <a:xfrm>
            <a:off x="8046720" y="1417320"/>
            <a:ext cx="3474720" cy="2103120"/>
          </a:xfrm>
          <a:prstGeom prst="roundRect">
            <a:avLst>
              <a:gd name="adj" fmla="val 5217"/>
            </a:avLst>
          </a:prstGeom>
          <a:solidFill>
            <a:schemeClr val="bg2"/>
          </a:solidFill>
          <a:ln w="12700">
            <a:solidFill>
              <a:schemeClr val="bg2"/>
            </a:solidFill>
            <a:prstDash val="solid"/>
          </a:ln>
        </p:spPr>
      </p:sp>
      <p:sp>
        <p:nvSpPr>
          <p:cNvPr id="10" name="Text 8"/>
          <p:cNvSpPr txBox="1"/>
          <p:nvPr/>
        </p:nvSpPr>
        <p:spPr>
          <a:xfrm>
            <a:off x="8046720" y="1600200"/>
            <a:ext cx="3474720" cy="1005840"/>
          </a:xfrm>
          <a:prstGeom prst="rect">
            <a:avLst/>
          </a:prstGeom>
          <a:noFill/>
          <a:ln/>
        </p:spPr>
        <p:txBody>
          <a:bodyPr wrap="square" lIns="0" tIns="0" rIns="0" bIns="0" rtlCol="0" anchor="ctr"/>
          <a:lstStyle/>
          <a:p>
            <a:pPr algn="ctr" indent="0" marL="0">
              <a:buNone/>
            </a:pPr>
            <a:r>
              <a:rPr lang="en-US" sz="2800" b="1" dirty="0">
                <a:solidFill>
                  <a:schemeClr val="tx1"/>
                </a:solidFill>
              </a:rPr>
              <a:t>v</a:t>
            </a:r>
            <a:pPr algn="ctr" indent="0" marL="0">
              <a:buNone/>
            </a:pPr>
            <a:r>
              <a:rPr lang="en-US" sz="2800" b="1" baseline="30000" dirty="0">
                <a:solidFill>
                  <a:schemeClr val="tx1"/>
                </a:solidFill>
              </a:rPr>
              <a:t>2</a:t>
            </a:r>
            <a:pPr algn="ctr" indent="0" marL="0">
              <a:buNone/>
            </a:pPr>
            <a:r>
              <a:rPr lang="en-US" sz="2800" b="1" dirty="0">
                <a:solidFill>
                  <a:schemeClr val="tx1"/>
                </a:solidFill>
              </a:rPr>
              <a:t> = u</a:t>
            </a:r>
            <a:pPr algn="ctr" indent="0" marL="0">
              <a:buNone/>
            </a:pPr>
            <a:r>
              <a:rPr lang="en-US" sz="2800" b="1" baseline="30000" dirty="0">
                <a:solidFill>
                  <a:schemeClr val="tx1"/>
                </a:solidFill>
              </a:rPr>
              <a:t>2</a:t>
            </a:r>
            <a:pPr algn="ctr" indent="0" marL="0">
              <a:buNone/>
            </a:pPr>
            <a:r>
              <a:rPr lang="en-US" sz="2800" b="1" dirty="0">
                <a:solidFill>
                  <a:schemeClr val="tx1"/>
                </a:solidFill>
              </a:rPr>
              <a:t> + 2as</a:t>
            </a:r>
            <a:endParaRPr lang="en-US" sz="2800" dirty="0"/>
          </a:p>
        </p:txBody>
      </p:sp>
      <p:sp>
        <p:nvSpPr>
          <p:cNvPr id="11" name="Text 9"/>
          <p:cNvSpPr txBox="1"/>
          <p:nvPr/>
        </p:nvSpPr>
        <p:spPr>
          <a:xfrm>
            <a:off x="8046720" y="2651760"/>
            <a:ext cx="3474720" cy="640080"/>
          </a:xfrm>
          <a:prstGeom prst="rect">
            <a:avLst/>
          </a:prstGeom>
          <a:noFill/>
          <a:ln/>
        </p:spPr>
        <p:txBody>
          <a:bodyPr wrap="square" lIns="0" tIns="0" rIns="0" bIns="0" rtlCol="0" anchor="ctr"/>
          <a:lstStyle/>
          <a:p>
            <a:pPr algn="ctr" indent="0" marL="0">
              <a:buNone/>
            </a:pPr>
            <a:r>
              <a:rPr lang="en-US" sz="1600" dirty="0">
                <a:solidFill>
                  <a:schemeClr val="tx2"/>
                </a:solidFill>
              </a:rPr>
              <a:t>speed after distance s</a:t>
            </a:r>
            <a:endParaRPr lang="en-US" sz="1600" dirty="0"/>
          </a:p>
        </p:txBody>
      </p:sp>
      <p:sp>
        <p:nvSpPr>
          <p:cNvPr id="12" name="Text 10"/>
          <p:cNvSpPr txBox="1"/>
          <p:nvPr/>
        </p:nvSpPr>
        <p:spPr>
          <a:xfrm>
            <a:off x="548640" y="3931920"/>
            <a:ext cx="11064240" cy="2194560"/>
          </a:xfrm>
          <a:prstGeom prst="rect">
            <a:avLst/>
          </a:prstGeom>
          <a:noFill/>
          <a:ln/>
        </p:spPr>
        <p:txBody>
          <a:bodyPr wrap="square" lIns="0" tIns="0" rIns="0" bIns="0" rtlCol="0" anchor="t"/>
          <a:lstStyle/>
          <a:p>
            <a:pPr indent="0" marL="0">
              <a:spcAft>
                <a:spcPts val="1000"/>
              </a:spcAft>
              <a:buNone/>
            </a:pPr>
            <a:r>
              <a:rPr lang="en-US" sz="1800" dirty="0">
                <a:solidFill>
                  <a:schemeClr val="tx1"/>
                </a:solidFill>
              </a:rPr>
              <a:t>Both animals start from rest, so u = 0 and the equations get even simpler:</a:t>
            </a:r>
            <a:endParaRPr lang="en-US" sz="1800" dirty="0"/>
          </a:p>
          <a:p>
            <a:pPr indent="0" marL="0">
              <a:spcAft>
                <a:spcPts val="1000"/>
              </a:spcAft>
              <a:buNone/>
            </a:pPr>
            <a:r>
              <a:rPr lang="en-US" sz="2400" b="1" dirty="0">
                <a:solidFill>
                  <a:schemeClr val="accent3"/>
                </a:solidFill>
              </a:rPr>
              <a:t>v = at        s = ½at</a:t>
            </a:r>
            <a:pPr indent="0" marL="0">
              <a:spcAft>
                <a:spcPts val="1000"/>
              </a:spcAft>
              <a:buNone/>
            </a:pPr>
            <a:r>
              <a:rPr lang="en-US" sz="2400" b="1" baseline="30000" dirty="0">
                <a:solidFill>
                  <a:schemeClr val="accent3"/>
                </a:solidFill>
              </a:rPr>
              <a:t>2</a:t>
            </a:r>
            <a:pPr indent="0" marL="0">
              <a:spcAft>
                <a:spcPts val="1000"/>
              </a:spcAft>
              <a:buNone/>
            </a:pPr>
            <a:r>
              <a:rPr lang="en-US" sz="2400" b="1" dirty="0">
                <a:solidFill>
                  <a:schemeClr val="accent3"/>
                </a:solidFill>
              </a:rPr>
              <a:t>        v</a:t>
            </a:r>
            <a:pPr indent="0" marL="0">
              <a:spcAft>
                <a:spcPts val="1000"/>
              </a:spcAft>
              <a:buNone/>
            </a:pPr>
            <a:r>
              <a:rPr lang="en-US" sz="2400" b="1" baseline="30000" dirty="0">
                <a:solidFill>
                  <a:schemeClr val="accent3"/>
                </a:solidFill>
              </a:rPr>
              <a:t>2</a:t>
            </a:r>
            <a:pPr indent="0" marL="0">
              <a:spcAft>
                <a:spcPts val="1000"/>
              </a:spcAft>
              <a:buNone/>
            </a:pPr>
            <a:r>
              <a:rPr lang="en-US" sz="2400" b="1" dirty="0">
                <a:solidFill>
                  <a:schemeClr val="accent3"/>
                </a:solidFill>
              </a:rPr>
              <a:t> = 2as</a:t>
            </a:r>
            <a:endParaRPr lang="en-US" sz="1800" dirty="0"/>
          </a:p>
          <a:p>
            <a:pPr indent="0" marL="0">
              <a:spcAft>
                <a:spcPts val="1000"/>
              </a:spcAft>
              <a:buNone/>
            </a:pPr>
            <a:r>
              <a:rPr lang="en-US" sz="1800" dirty="0">
                <a:solidFill>
                  <a:schemeClr val="tx1"/>
                </a:solidFill>
              </a:rPr>
              <a:t>For the cheetah's steady part we just use  distance = speed × time.</a:t>
            </a:r>
            <a:endParaRPr lang="en-US" sz="18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Step 1 · The cheetah speeds up (first half)</a:t>
            </a:r>
            <a:endParaRPr lang="en-US" sz="3200" dirty="0"/>
          </a:p>
        </p:txBody>
      </p:sp>
      <p:sp>
        <p:nvSpPr>
          <p:cNvPr id="3" name="Text 1"/>
          <p:cNvSpPr txBox="1"/>
          <p:nvPr/>
        </p:nvSpPr>
        <p:spPr>
          <a:xfrm>
            <a:off x="548640" y="1325880"/>
            <a:ext cx="6400800" cy="3657600"/>
          </a:xfrm>
          <a:prstGeom prst="rect">
            <a:avLst/>
          </a:prstGeom>
          <a:noFill/>
          <a:ln/>
        </p:spPr>
        <p:txBody>
          <a:bodyPr wrap="square" lIns="0" tIns="0" rIns="0" bIns="0" rtlCol="0" anchor="t"/>
          <a:lstStyle/>
          <a:p>
            <a:pPr indent="0" marL="0">
              <a:spcAft>
                <a:spcPts val="1200"/>
              </a:spcAft>
              <a:buNone/>
            </a:pPr>
            <a:r>
              <a:rPr lang="en-US" sz="1800" dirty="0">
                <a:solidFill>
                  <a:schemeClr val="tx2"/>
                </a:solidFill>
              </a:rPr>
              <a:t>Distance D/2, starting at 0 and ending at top speed V.</a:t>
            </a:r>
            <a:endParaRPr lang="en-US" sz="1800" dirty="0"/>
          </a:p>
          <a:p>
            <a:pPr indent="0" marL="0">
              <a:spcAft>
                <a:spcPts val="1200"/>
              </a:spcAft>
              <a:buNone/>
            </a:pPr>
            <a:r>
              <a:rPr lang="en-US" sz="1800" dirty="0">
                <a:solidFill>
                  <a:schemeClr val="tx1"/>
                </a:solidFill>
              </a:rPr>
              <a:t>Use  v</a:t>
            </a:r>
            <a:pPr indent="0" marL="0">
              <a:spcAft>
                <a:spcPts val="1200"/>
              </a:spcAft>
              <a:buNone/>
            </a:pPr>
            <a:r>
              <a:rPr lang="en-US" sz="1800" baseline="30000" dirty="0">
                <a:solidFill>
                  <a:schemeClr val="tx1"/>
                </a:solidFill>
              </a:rPr>
              <a:t>2</a:t>
            </a:r>
            <a:pPr indent="0" marL="0">
              <a:spcAft>
                <a:spcPts val="1200"/>
              </a:spcAft>
              <a:buNone/>
            </a:pPr>
            <a:r>
              <a:rPr lang="en-US" sz="1800" dirty="0">
                <a:solidFill>
                  <a:schemeClr val="tx1"/>
                </a:solidFill>
              </a:rPr>
              <a:t> = 2as :</a:t>
            </a:r>
            <a:endParaRPr lang="en-US" sz="1800" dirty="0"/>
          </a:p>
          <a:p>
            <a:pPr indent="0" marL="0">
              <a:spcAft>
                <a:spcPts val="1200"/>
              </a:spcAft>
              <a:buNone/>
            </a:pPr>
            <a:r>
              <a:rPr lang="en-US" sz="2400" b="1" dirty="0">
                <a:solidFill>
                  <a:schemeClr val="tx1"/>
                </a:solidFill>
              </a:rPr>
              <a:t>V</a:t>
            </a:r>
            <a:pPr indent="0" marL="0">
              <a:spcAft>
                <a:spcPts val="1200"/>
              </a:spcAft>
              <a:buNone/>
            </a:pPr>
            <a:r>
              <a:rPr lang="en-US" sz="2400" b="1" baseline="30000" dirty="0">
                <a:solidFill>
                  <a:schemeClr val="tx1"/>
                </a:solidFill>
              </a:rPr>
              <a:t>2</a:t>
            </a:r>
            <a:pPr indent="0" marL="0">
              <a:spcAft>
                <a:spcPts val="1200"/>
              </a:spcAft>
              <a:buNone/>
            </a:pPr>
            <a:r>
              <a:rPr lang="en-US" sz="2400" b="1" dirty="0">
                <a:solidFill>
                  <a:schemeClr val="tx1"/>
                </a:solidFill>
              </a:rPr>
              <a:t> = 2 · a</a:t>
            </a:r>
            <a:pPr indent="0" marL="0">
              <a:spcAft>
                <a:spcPts val="1200"/>
              </a:spcAft>
              <a:buNone/>
            </a:pPr>
            <a:r>
              <a:rPr lang="en-US" sz="2400" b="1" baseline="-40000" dirty="0">
                <a:solidFill>
                  <a:schemeClr val="tx1"/>
                </a:solidFill>
              </a:rPr>
              <a:t>c</a:t>
            </a:r>
            <a:pPr indent="0" marL="0">
              <a:spcAft>
                <a:spcPts val="1200"/>
              </a:spcAft>
              <a:buNone/>
            </a:pPr>
            <a:r>
              <a:rPr lang="en-US" sz="2400" b="1" dirty="0">
                <a:solidFill>
                  <a:schemeClr val="tx1"/>
                </a:solidFill>
              </a:rPr>
              <a:t> · (D/2) = a</a:t>
            </a:r>
            <a:pPr indent="0" marL="0">
              <a:spcAft>
                <a:spcPts val="1200"/>
              </a:spcAft>
              <a:buNone/>
            </a:pPr>
            <a:r>
              <a:rPr lang="en-US" sz="2400" b="1" baseline="-40000" dirty="0">
                <a:solidFill>
                  <a:schemeClr val="tx1"/>
                </a:solidFill>
              </a:rPr>
              <a:t>c</a:t>
            </a:r>
            <a:pPr indent="0" marL="0">
              <a:spcAft>
                <a:spcPts val="1200"/>
              </a:spcAft>
              <a:buNone/>
            </a:pPr>
            <a:r>
              <a:rPr lang="en-US" sz="2400" b="1" dirty="0">
                <a:solidFill>
                  <a:schemeClr val="tx1"/>
                </a:solidFill>
              </a:rPr>
              <a:t> D</a:t>
            </a:r>
            <a:endParaRPr lang="en-US" sz="1800" dirty="0"/>
          </a:p>
          <a:p>
            <a:pPr indent="0" marL="0">
              <a:spcAft>
                <a:spcPts val="1200"/>
              </a:spcAft>
              <a:buNone/>
            </a:pPr>
            <a:r>
              <a:rPr lang="en-US" sz="1800" dirty="0">
                <a:solidFill>
                  <a:schemeClr val="tx1"/>
                </a:solidFill>
              </a:rPr>
              <a:t>Time to reach top speed, using  v = at :</a:t>
            </a:r>
            <a:endParaRPr lang="en-US" sz="1800" dirty="0"/>
          </a:p>
          <a:p>
            <a:pPr indent="0" marL="0">
              <a:spcAft>
                <a:spcPts val="1200"/>
              </a:spcAft>
              <a:buNone/>
            </a:pPr>
            <a:r>
              <a:rPr lang="en-US" sz="2400" b="1" dirty="0">
                <a:solidFill>
                  <a:schemeClr val="tx1"/>
                </a:solidFill>
              </a:rPr>
              <a:t>t</a:t>
            </a:r>
            <a:pPr indent="0" marL="0">
              <a:spcAft>
                <a:spcPts val="1200"/>
              </a:spcAft>
              <a:buNone/>
            </a:pPr>
            <a:r>
              <a:rPr lang="en-US" sz="2400" b="1" baseline="-40000" dirty="0">
                <a:solidFill>
                  <a:schemeClr val="tx1"/>
                </a:solidFill>
              </a:rPr>
              <a:t>1</a:t>
            </a:r>
            <a:pPr indent="0" marL="0">
              <a:spcAft>
                <a:spcPts val="1200"/>
              </a:spcAft>
              <a:buNone/>
            </a:pPr>
            <a:r>
              <a:rPr lang="en-US" sz="2400" b="1" dirty="0">
                <a:solidFill>
                  <a:schemeClr val="tx1"/>
                </a:solidFill>
              </a:rPr>
              <a:t> = V / a</a:t>
            </a:r>
            <a:pPr indent="0" marL="0">
              <a:spcAft>
                <a:spcPts val="1200"/>
              </a:spcAft>
              <a:buNone/>
            </a:pPr>
            <a:r>
              <a:rPr lang="en-US" sz="2400" b="1" baseline="-40000" dirty="0">
                <a:solidFill>
                  <a:schemeClr val="tx1"/>
                </a:solidFill>
              </a:rPr>
              <a:t>c</a:t>
            </a:r>
            <a:pPr indent="0" marL="0">
              <a:spcAft>
                <a:spcPts val="1200"/>
              </a:spcAft>
              <a:buNone/>
            </a:pPr>
            <a:r>
              <a:rPr lang="en-US" sz="2400" b="1" dirty="0">
                <a:solidFill>
                  <a:schemeClr val="tx1"/>
                </a:solidFill>
              </a:rPr>
              <a:t> = D / V</a:t>
            </a:r>
            <a:endParaRPr lang="en-US" sz="1800" dirty="0"/>
          </a:p>
        </p:txBody>
      </p:sp>
      <p:sp>
        <p:nvSpPr>
          <p:cNvPr id="4" name="cheetah acceleration result"/>
          <p:cNvSpPr/>
          <p:nvPr/>
        </p:nvSpPr>
        <p:spPr>
          <a:xfrm>
            <a:off x="548640" y="3931920"/>
            <a:ext cx="4572000" cy="1005840"/>
          </a:xfrm>
          <a:prstGeom prst="roundRect">
            <a:avLst>
              <a:gd name="adj" fmla="val 9091"/>
            </a:avLst>
          </a:prstGeom>
          <a:solidFill>
            <a:schemeClr val="accent6"/>
          </a:solidFill>
          <a:ln w="19050">
            <a:solidFill>
              <a:schemeClr val="accent1"/>
            </a:solidFill>
            <a:prstDash val="solid"/>
          </a:ln>
        </p:spPr>
      </p:sp>
      <p:sp>
        <p:nvSpPr>
          <p:cNvPr id="5" name="Text 3"/>
          <p:cNvSpPr txBox="1"/>
          <p:nvPr/>
        </p:nvSpPr>
        <p:spPr>
          <a:xfrm>
            <a:off x="548640" y="3931920"/>
            <a:ext cx="4572000" cy="1005840"/>
          </a:xfrm>
          <a:prstGeom prst="rect">
            <a:avLst/>
          </a:prstGeom>
          <a:noFill/>
          <a:ln/>
        </p:spPr>
        <p:txBody>
          <a:bodyPr wrap="square" lIns="1270" tIns="1270" rIns="1270" bIns="1270" rtlCol="0" anchor="ctr"/>
          <a:lstStyle/>
          <a:p>
            <a:pPr algn="ctr" indent="0" marL="0">
              <a:buNone/>
            </a:pPr>
            <a:r>
              <a:rPr lang="en-US" sz="2600" b="1" dirty="0">
                <a:solidFill>
                  <a:schemeClr val="tx1"/>
                </a:solidFill>
              </a:rPr>
              <a:t>a</a:t>
            </a:r>
            <a:pPr algn="ctr" indent="0" marL="0">
              <a:buNone/>
            </a:pPr>
            <a:r>
              <a:rPr lang="en-US" sz="2600" b="1" baseline="-40000" dirty="0">
                <a:solidFill>
                  <a:schemeClr val="tx1"/>
                </a:solidFill>
              </a:rPr>
              <a:t>c</a:t>
            </a:r>
            <a:pPr algn="ctr" indent="0" marL="0">
              <a:buNone/>
            </a:pPr>
            <a:r>
              <a:rPr lang="en-US" sz="2600" b="1" dirty="0">
                <a:solidFill>
                  <a:schemeClr val="tx1"/>
                </a:solidFill>
              </a:rPr>
              <a:t> = V</a:t>
            </a:r>
            <a:pPr algn="ctr" indent="0" marL="0">
              <a:buNone/>
            </a:pPr>
            <a:r>
              <a:rPr lang="en-US" sz="2600" b="1" baseline="30000" dirty="0">
                <a:solidFill>
                  <a:schemeClr val="tx1"/>
                </a:solidFill>
              </a:rPr>
              <a:t>2</a:t>
            </a:r>
            <a:pPr algn="ctr" indent="0" marL="0">
              <a:buNone/>
            </a:pPr>
            <a:r>
              <a:rPr lang="en-US" sz="2600" b="1" dirty="0">
                <a:solidFill>
                  <a:schemeClr val="tx1"/>
                </a:solidFill>
              </a:rPr>
              <a:t> / D</a:t>
            </a:r>
            <a:endParaRPr lang="en-US" sz="2600" dirty="0"/>
          </a:p>
        </p:txBody>
      </p:sp>
      <p:sp>
        <p:nvSpPr>
          <p:cNvPr id="6" name="plain words card"/>
          <p:cNvSpPr/>
          <p:nvPr/>
        </p:nvSpPr>
        <p:spPr>
          <a:xfrm>
            <a:off x="7498080" y="1325880"/>
            <a:ext cx="4114800" cy="3611880"/>
          </a:xfrm>
          <a:prstGeom prst="roundRect">
            <a:avLst>
              <a:gd name="adj" fmla="val 3038"/>
            </a:avLst>
          </a:prstGeom>
          <a:solidFill>
            <a:schemeClr val="bg2"/>
          </a:solidFill>
          <a:ln w="12700">
            <a:solidFill>
              <a:schemeClr val="bg2"/>
            </a:solidFill>
            <a:prstDash val="solid"/>
          </a:ln>
        </p:spPr>
      </p:sp>
      <p:sp>
        <p:nvSpPr>
          <p:cNvPr id="7" name="Text 5"/>
          <p:cNvSpPr txBox="1"/>
          <p:nvPr/>
        </p:nvSpPr>
        <p:spPr>
          <a:xfrm>
            <a:off x="7772400" y="1554480"/>
            <a:ext cx="3566160" cy="3200400"/>
          </a:xfrm>
          <a:prstGeom prst="rect">
            <a:avLst/>
          </a:prstGeom>
          <a:noFill/>
          <a:ln/>
        </p:spPr>
        <p:txBody>
          <a:bodyPr wrap="square" lIns="0" tIns="0" rIns="0" bIns="0" rtlCol="0" anchor="t"/>
          <a:lstStyle/>
          <a:p>
            <a:pPr indent="0" marL="0">
              <a:spcAft>
                <a:spcPts val="1200"/>
              </a:spcAft>
              <a:buNone/>
            </a:pPr>
            <a:r>
              <a:rPr lang="en-US" sz="2000" b="1" dirty="0">
                <a:solidFill>
                  <a:schemeClr val="accent3"/>
                </a:solidFill>
              </a:rPr>
              <a:t>In plain words</a:t>
            </a:r>
            <a:endParaRPr lang="en-US" sz="2000" dirty="0"/>
          </a:p>
          <a:p>
            <a:pPr indent="0" marL="0">
              <a:spcAft>
                <a:spcPts val="1200"/>
              </a:spcAft>
              <a:buNone/>
            </a:pPr>
            <a:r>
              <a:rPr lang="en-US" sz="1700" dirty="0">
                <a:solidFill>
                  <a:schemeClr val="tx1"/>
                </a:solidFill>
              </a:rPr>
              <a:t>The cheetah has to go from standing still to full speed in just half the distance, so it needs a big acceleration: V² divided by D.</a:t>
            </a:r>
            <a:endParaRPr lang="en-US" sz="2000" dirty="0"/>
          </a:p>
          <a:p>
            <a:pPr indent="0" marL="0">
              <a:spcAft>
                <a:spcPts val="1200"/>
              </a:spcAft>
              <a:buNone/>
            </a:pPr>
            <a:r>
              <a:rPr lang="en-US" sz="1700" dirty="0">
                <a:solidFill>
                  <a:schemeClr val="tx1"/>
                </a:solidFill>
              </a:rPr>
              <a:t>Its average speed while speeding up is only V/2, so this half takes time D/V.</a:t>
            </a:r>
            <a:endParaRPr lang="en-US" sz="20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Step 2 · The cheetah at top speed (second half)</a:t>
            </a:r>
            <a:endParaRPr lang="en-US" sz="3200" dirty="0"/>
          </a:p>
        </p:txBody>
      </p:sp>
      <p:sp>
        <p:nvSpPr>
          <p:cNvPr id="3" name="Text 1"/>
          <p:cNvSpPr txBox="1"/>
          <p:nvPr/>
        </p:nvSpPr>
        <p:spPr>
          <a:xfrm>
            <a:off x="548640" y="1325880"/>
            <a:ext cx="6035040" cy="3017520"/>
          </a:xfrm>
          <a:prstGeom prst="rect">
            <a:avLst/>
          </a:prstGeom>
          <a:noFill/>
          <a:ln/>
        </p:spPr>
        <p:txBody>
          <a:bodyPr wrap="square" lIns="0" tIns="0" rIns="0" bIns="0" rtlCol="0" anchor="t"/>
          <a:lstStyle/>
          <a:p>
            <a:pPr indent="0" marL="0">
              <a:spcAft>
                <a:spcPts val="1200"/>
              </a:spcAft>
              <a:buNone/>
            </a:pPr>
            <a:r>
              <a:rPr lang="en-US" sz="1800" dirty="0">
                <a:solidFill>
                  <a:schemeClr val="tx1"/>
                </a:solidFill>
              </a:rPr>
              <a:t>Distance D/2 at constant speed V:</a:t>
            </a:r>
            <a:endParaRPr lang="en-US" sz="1800" dirty="0"/>
          </a:p>
          <a:p>
            <a:pPr indent="0" marL="0">
              <a:spcAft>
                <a:spcPts val="1200"/>
              </a:spcAft>
              <a:buNone/>
            </a:pPr>
            <a:r>
              <a:rPr lang="en-US" sz="2400" b="1" dirty="0">
                <a:solidFill>
                  <a:schemeClr val="tx1"/>
                </a:solidFill>
              </a:rPr>
              <a:t>t</a:t>
            </a:r>
            <a:pPr indent="0" marL="0">
              <a:spcAft>
                <a:spcPts val="1200"/>
              </a:spcAft>
              <a:buNone/>
            </a:pPr>
            <a:r>
              <a:rPr lang="en-US" sz="2400" b="1" baseline="-40000" dirty="0">
                <a:solidFill>
                  <a:schemeClr val="tx1"/>
                </a:solidFill>
              </a:rPr>
              <a:t>2</a:t>
            </a:r>
            <a:pPr indent="0" marL="0">
              <a:spcAft>
                <a:spcPts val="1200"/>
              </a:spcAft>
              <a:buNone/>
            </a:pPr>
            <a:r>
              <a:rPr lang="en-US" sz="2400" b="1" dirty="0">
                <a:solidFill>
                  <a:schemeClr val="tx1"/>
                </a:solidFill>
              </a:rPr>
              <a:t> = (D/2) / V = D / (2V)</a:t>
            </a:r>
            <a:endParaRPr lang="en-US" sz="1800" dirty="0"/>
          </a:p>
          <a:p>
            <a:pPr indent="0" marL="0">
              <a:spcAft>
                <a:spcPts val="1200"/>
              </a:spcAft>
              <a:buNone/>
            </a:pPr>
            <a:r>
              <a:rPr lang="en-US" sz="1800" dirty="0">
                <a:solidFill>
                  <a:schemeClr val="tx1"/>
                </a:solidFill>
              </a:rPr>
              <a:t>Total time of the chase:</a:t>
            </a:r>
            <a:endParaRPr lang="en-US" sz="1800" dirty="0"/>
          </a:p>
          <a:p>
            <a:pPr indent="0" marL="0">
              <a:spcAft>
                <a:spcPts val="1200"/>
              </a:spcAft>
              <a:buNone/>
            </a:pPr>
            <a:r>
              <a:rPr lang="en-US" sz="2400" b="1" dirty="0">
                <a:solidFill>
                  <a:schemeClr val="tx1"/>
                </a:solidFill>
              </a:rPr>
              <a:t>T = t</a:t>
            </a:r>
            <a:pPr indent="0" marL="0">
              <a:spcAft>
                <a:spcPts val="1200"/>
              </a:spcAft>
              <a:buNone/>
            </a:pPr>
            <a:r>
              <a:rPr lang="en-US" sz="2400" b="1" baseline="-40000" dirty="0">
                <a:solidFill>
                  <a:schemeClr val="tx1"/>
                </a:solidFill>
              </a:rPr>
              <a:t>1</a:t>
            </a:r>
            <a:pPr indent="0" marL="0">
              <a:spcAft>
                <a:spcPts val="1200"/>
              </a:spcAft>
              <a:buNone/>
            </a:pPr>
            <a:r>
              <a:rPr lang="en-US" sz="2400" b="1" dirty="0">
                <a:solidFill>
                  <a:schemeClr val="tx1"/>
                </a:solidFill>
              </a:rPr>
              <a:t> + t</a:t>
            </a:r>
            <a:pPr indent="0" marL="0">
              <a:spcAft>
                <a:spcPts val="1200"/>
              </a:spcAft>
              <a:buNone/>
            </a:pPr>
            <a:r>
              <a:rPr lang="en-US" sz="2400" b="1" baseline="-40000" dirty="0">
                <a:solidFill>
                  <a:schemeClr val="tx1"/>
                </a:solidFill>
              </a:rPr>
              <a:t>2</a:t>
            </a:r>
            <a:pPr indent="0" marL="0">
              <a:spcAft>
                <a:spcPts val="1200"/>
              </a:spcAft>
              <a:buNone/>
            </a:pPr>
            <a:r>
              <a:rPr lang="en-US" sz="2400" b="1" dirty="0">
                <a:solidFill>
                  <a:schemeClr val="tx1"/>
                </a:solidFill>
              </a:rPr>
              <a:t> = D/V + D/(2V)</a:t>
            </a:r>
            <a:endParaRPr lang="en-US" sz="1800" dirty="0"/>
          </a:p>
        </p:txBody>
      </p:sp>
      <p:sp>
        <p:nvSpPr>
          <p:cNvPr id="4" name="total time result"/>
          <p:cNvSpPr/>
          <p:nvPr/>
        </p:nvSpPr>
        <p:spPr>
          <a:xfrm>
            <a:off x="548640" y="3657600"/>
            <a:ext cx="4572000" cy="1005840"/>
          </a:xfrm>
          <a:prstGeom prst="roundRect">
            <a:avLst>
              <a:gd name="adj" fmla="val 9091"/>
            </a:avLst>
          </a:prstGeom>
          <a:solidFill>
            <a:schemeClr val="accent6"/>
          </a:solidFill>
          <a:ln w="19050">
            <a:solidFill>
              <a:schemeClr val="accent1"/>
            </a:solidFill>
            <a:prstDash val="solid"/>
          </a:ln>
        </p:spPr>
      </p:sp>
      <p:sp>
        <p:nvSpPr>
          <p:cNvPr id="5" name="Text 3"/>
          <p:cNvSpPr txBox="1"/>
          <p:nvPr/>
        </p:nvSpPr>
        <p:spPr>
          <a:xfrm>
            <a:off x="548640" y="3657600"/>
            <a:ext cx="4572000" cy="1005840"/>
          </a:xfrm>
          <a:prstGeom prst="rect">
            <a:avLst/>
          </a:prstGeom>
          <a:noFill/>
          <a:ln/>
        </p:spPr>
        <p:txBody>
          <a:bodyPr wrap="square" lIns="1270" tIns="1270" rIns="1270" bIns="1270" rtlCol="0" anchor="ctr"/>
          <a:lstStyle/>
          <a:p>
            <a:pPr algn="ctr" indent="0" marL="0">
              <a:buNone/>
            </a:pPr>
            <a:r>
              <a:rPr lang="en-US" sz="2600" b="1" dirty="0">
                <a:solidFill>
                  <a:schemeClr val="tx1"/>
                </a:solidFill>
              </a:rPr>
              <a:t>T = 3D / (2V)</a:t>
            </a:r>
            <a:endParaRPr lang="en-US" sz="2600" dirty="0"/>
          </a:p>
        </p:txBody>
      </p:sp>
      <p:sp>
        <p:nvSpPr>
          <p:cNvPr id="6" name="Text 4"/>
          <p:cNvSpPr txBox="1"/>
          <p:nvPr/>
        </p:nvSpPr>
        <p:spPr>
          <a:xfrm>
            <a:off x="6949440" y="1325880"/>
            <a:ext cx="4663440" cy="457200"/>
          </a:xfrm>
          <a:prstGeom prst="rect">
            <a:avLst/>
          </a:prstGeom>
          <a:noFill/>
          <a:ln/>
        </p:spPr>
        <p:txBody>
          <a:bodyPr wrap="square" lIns="0" tIns="0" rIns="0" bIns="0" rtlCol="0" anchor="ctr"/>
          <a:lstStyle/>
          <a:p>
            <a:pPr indent="0" marL="0">
              <a:buNone/>
            </a:pPr>
            <a:r>
              <a:rPr lang="en-US" sz="1800" b="1" dirty="0">
                <a:solidFill>
                  <a:schemeClr val="tx1"/>
                </a:solidFill>
              </a:rPr>
              <a:t>Same two halves, measured two ways</a:t>
            </a:r>
            <a:endParaRPr lang="en-US" sz="1800" dirty="0"/>
          </a:p>
        </p:txBody>
      </p:sp>
      <p:sp>
        <p:nvSpPr>
          <p:cNvPr id="7" name="Text 5"/>
          <p:cNvSpPr txBox="1"/>
          <p:nvPr/>
        </p:nvSpPr>
        <p:spPr>
          <a:xfrm>
            <a:off x="6949440" y="1965960"/>
            <a:ext cx="4663440" cy="365760"/>
          </a:xfrm>
          <a:prstGeom prst="rect">
            <a:avLst/>
          </a:prstGeom>
          <a:noFill/>
          <a:ln/>
        </p:spPr>
        <p:txBody>
          <a:bodyPr wrap="square" lIns="0" tIns="0" rIns="0" bIns="0" rtlCol="0" anchor="ctr"/>
          <a:lstStyle/>
          <a:p>
            <a:pPr indent="0" marL="0">
              <a:buNone/>
            </a:pPr>
            <a:r>
              <a:rPr lang="en-US" sz="1500" dirty="0">
                <a:solidFill>
                  <a:schemeClr val="tx2"/>
                </a:solidFill>
              </a:rPr>
              <a:t>Distance</a:t>
            </a:r>
            <a:endParaRPr lang="en-US" sz="1500" dirty="0"/>
          </a:p>
        </p:txBody>
      </p:sp>
      <p:sp>
        <p:nvSpPr>
          <p:cNvPr id="8" name="distance half 1"/>
          <p:cNvSpPr/>
          <p:nvPr/>
        </p:nvSpPr>
        <p:spPr>
          <a:xfrm>
            <a:off x="6949440" y="2377440"/>
            <a:ext cx="2331720" cy="640080"/>
          </a:xfrm>
          <a:prstGeom prst="rect">
            <a:avLst/>
          </a:prstGeom>
          <a:solidFill>
            <a:srgbClr val="FDE68A"/>
          </a:solidFill>
          <a:ln w="25400">
            <a:solidFill>
              <a:srgbClr val="FFFFFF"/>
            </a:solidFill>
            <a:prstDash val="solid"/>
          </a:ln>
        </p:spPr>
      </p:sp>
      <p:sp>
        <p:nvSpPr>
          <p:cNvPr id="9" name="distance half 2"/>
          <p:cNvSpPr/>
          <p:nvPr/>
        </p:nvSpPr>
        <p:spPr>
          <a:xfrm>
            <a:off x="9281160" y="2377440"/>
            <a:ext cx="2331720" cy="640080"/>
          </a:xfrm>
          <a:prstGeom prst="rect">
            <a:avLst/>
          </a:prstGeom>
          <a:solidFill>
            <a:schemeClr val="accent1"/>
          </a:solidFill>
          <a:ln w="25400">
            <a:solidFill>
              <a:srgbClr val="FFFFFF"/>
            </a:solidFill>
            <a:prstDash val="solid"/>
          </a:ln>
        </p:spPr>
      </p:sp>
      <p:sp>
        <p:nvSpPr>
          <p:cNvPr id="10" name="Text 8"/>
          <p:cNvSpPr txBox="1"/>
          <p:nvPr/>
        </p:nvSpPr>
        <p:spPr>
          <a:xfrm>
            <a:off x="6949440" y="2377440"/>
            <a:ext cx="2331720" cy="640080"/>
          </a:xfrm>
          <a:prstGeom prst="rect">
            <a:avLst/>
          </a:prstGeom>
          <a:noFill/>
          <a:ln/>
        </p:spPr>
        <p:txBody>
          <a:bodyPr wrap="square" lIns="0" tIns="0" rIns="0" bIns="0" rtlCol="0" anchor="ctr"/>
          <a:lstStyle/>
          <a:p>
            <a:pPr algn="ctr" indent="0" marL="0">
              <a:buNone/>
            </a:pPr>
            <a:r>
              <a:rPr lang="en-US" sz="1400" dirty="0">
                <a:solidFill>
                  <a:schemeClr val="tx1"/>
                </a:solidFill>
              </a:rPr>
              <a:t>½ (speeding up)</a:t>
            </a:r>
            <a:endParaRPr lang="en-US" sz="1400" dirty="0"/>
          </a:p>
        </p:txBody>
      </p:sp>
      <p:sp>
        <p:nvSpPr>
          <p:cNvPr id="11" name="Text 9"/>
          <p:cNvSpPr txBox="1"/>
          <p:nvPr/>
        </p:nvSpPr>
        <p:spPr>
          <a:xfrm>
            <a:off x="9281160" y="2377440"/>
            <a:ext cx="2331720" cy="640080"/>
          </a:xfrm>
          <a:prstGeom prst="rect">
            <a:avLst/>
          </a:prstGeom>
          <a:noFill/>
          <a:ln/>
        </p:spPr>
        <p:txBody>
          <a:bodyPr wrap="square" lIns="0" tIns="0" rIns="0" bIns="0" rtlCol="0" anchor="ctr"/>
          <a:lstStyle/>
          <a:p>
            <a:pPr algn="ctr" indent="0" marL="0">
              <a:buNone/>
            </a:pPr>
            <a:r>
              <a:rPr lang="en-US" sz="1400" b="1" dirty="0">
                <a:solidFill>
                  <a:srgbClr val="FFFFFF"/>
                </a:solidFill>
              </a:rPr>
              <a:t>½ (top speed)</a:t>
            </a:r>
            <a:endParaRPr lang="en-US" sz="1400" dirty="0"/>
          </a:p>
        </p:txBody>
      </p:sp>
      <p:sp>
        <p:nvSpPr>
          <p:cNvPr id="12" name="Text 10"/>
          <p:cNvSpPr txBox="1"/>
          <p:nvPr/>
        </p:nvSpPr>
        <p:spPr>
          <a:xfrm>
            <a:off x="6949440" y="3246120"/>
            <a:ext cx="4663440" cy="365760"/>
          </a:xfrm>
          <a:prstGeom prst="rect">
            <a:avLst/>
          </a:prstGeom>
          <a:noFill/>
          <a:ln/>
        </p:spPr>
        <p:txBody>
          <a:bodyPr wrap="square" lIns="0" tIns="0" rIns="0" bIns="0" rtlCol="0" anchor="ctr"/>
          <a:lstStyle/>
          <a:p>
            <a:pPr indent="0" marL="0">
              <a:buNone/>
            </a:pPr>
            <a:r>
              <a:rPr lang="en-US" sz="1500" dirty="0">
                <a:solidFill>
                  <a:schemeClr val="tx2"/>
                </a:solidFill>
              </a:rPr>
              <a:t>Time</a:t>
            </a:r>
            <a:endParaRPr lang="en-US" sz="1500" dirty="0"/>
          </a:p>
        </p:txBody>
      </p:sp>
      <p:sp>
        <p:nvSpPr>
          <p:cNvPr id="13" name="time part 1"/>
          <p:cNvSpPr/>
          <p:nvPr/>
        </p:nvSpPr>
        <p:spPr>
          <a:xfrm>
            <a:off x="6949440" y="3657600"/>
            <a:ext cx="3108960" cy="640080"/>
          </a:xfrm>
          <a:prstGeom prst="rect">
            <a:avLst/>
          </a:prstGeom>
          <a:solidFill>
            <a:srgbClr val="FDE68A"/>
          </a:solidFill>
          <a:ln w="25400">
            <a:solidFill>
              <a:srgbClr val="FFFFFF"/>
            </a:solidFill>
            <a:prstDash val="solid"/>
          </a:ln>
        </p:spPr>
      </p:sp>
      <p:sp>
        <p:nvSpPr>
          <p:cNvPr id="14" name="time part 2"/>
          <p:cNvSpPr/>
          <p:nvPr/>
        </p:nvSpPr>
        <p:spPr>
          <a:xfrm>
            <a:off x="10058400" y="3657600"/>
            <a:ext cx="1554480" cy="640080"/>
          </a:xfrm>
          <a:prstGeom prst="rect">
            <a:avLst/>
          </a:prstGeom>
          <a:solidFill>
            <a:schemeClr val="accent1"/>
          </a:solidFill>
          <a:ln w="25400">
            <a:solidFill>
              <a:srgbClr val="FFFFFF"/>
            </a:solidFill>
            <a:prstDash val="solid"/>
          </a:ln>
        </p:spPr>
      </p:sp>
      <p:sp>
        <p:nvSpPr>
          <p:cNvPr id="15" name="Text 13"/>
          <p:cNvSpPr txBox="1"/>
          <p:nvPr/>
        </p:nvSpPr>
        <p:spPr>
          <a:xfrm>
            <a:off x="6949440" y="3657600"/>
            <a:ext cx="3108960" cy="640080"/>
          </a:xfrm>
          <a:prstGeom prst="rect">
            <a:avLst/>
          </a:prstGeom>
          <a:noFill/>
          <a:ln/>
        </p:spPr>
        <p:txBody>
          <a:bodyPr wrap="square" lIns="0" tIns="0" rIns="0" bIns="0" rtlCol="0" anchor="ctr"/>
          <a:lstStyle/>
          <a:p>
            <a:pPr algn="ctr" indent="0" marL="0">
              <a:buNone/>
            </a:pPr>
            <a:r>
              <a:rPr lang="en-US" sz="1400" dirty="0">
                <a:solidFill>
                  <a:schemeClr val="tx1"/>
                </a:solidFill>
              </a:rPr>
              <a:t>⅔ of T</a:t>
            </a:r>
            <a:endParaRPr lang="en-US" sz="1400" dirty="0"/>
          </a:p>
        </p:txBody>
      </p:sp>
      <p:sp>
        <p:nvSpPr>
          <p:cNvPr id="16" name="Text 14"/>
          <p:cNvSpPr txBox="1"/>
          <p:nvPr/>
        </p:nvSpPr>
        <p:spPr>
          <a:xfrm>
            <a:off x="10058400" y="3657600"/>
            <a:ext cx="1554480" cy="640080"/>
          </a:xfrm>
          <a:prstGeom prst="rect">
            <a:avLst/>
          </a:prstGeom>
          <a:noFill/>
          <a:ln/>
        </p:spPr>
        <p:txBody>
          <a:bodyPr wrap="square" lIns="0" tIns="0" rIns="0" bIns="0" rtlCol="0" anchor="ctr"/>
          <a:lstStyle/>
          <a:p>
            <a:pPr algn="ctr" indent="0" marL="0">
              <a:buNone/>
            </a:pPr>
            <a:r>
              <a:rPr lang="en-US" sz="1400" b="1" dirty="0">
                <a:solidFill>
                  <a:srgbClr val="FFFFFF"/>
                </a:solidFill>
              </a:rPr>
              <a:t>⅓ of T</a:t>
            </a:r>
            <a:endParaRPr lang="en-US" sz="1400" dirty="0"/>
          </a:p>
        </p:txBody>
      </p:sp>
      <p:sp>
        <p:nvSpPr>
          <p:cNvPr id="17" name="Text 15"/>
          <p:cNvSpPr txBox="1"/>
          <p:nvPr/>
        </p:nvSpPr>
        <p:spPr>
          <a:xfrm>
            <a:off x="6949440" y="4572000"/>
            <a:ext cx="4663440" cy="914400"/>
          </a:xfrm>
          <a:prstGeom prst="rect">
            <a:avLst/>
          </a:prstGeom>
          <a:noFill/>
          <a:ln/>
        </p:spPr>
        <p:txBody>
          <a:bodyPr wrap="square" lIns="0" tIns="0" rIns="0" bIns="0" rtlCol="0" anchor="t"/>
          <a:lstStyle/>
          <a:p>
            <a:pPr indent="0" marL="0">
              <a:buNone/>
            </a:pPr>
            <a:r>
              <a:rPr lang="en-US" sz="1600" i="1" dirty="0">
                <a:solidFill>
                  <a:schemeClr val="tx2"/>
                </a:solidFill>
              </a:rPr>
              <a:t>The first half of the distance takes two-thirds of the time, because the cheetah starts slowly.</a:t>
            </a:r>
            <a:endParaRPr lang="en-US" sz="16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Step 3 · The dog speeds up the whole way</a:t>
            </a:r>
            <a:endParaRPr lang="en-US" sz="3200" dirty="0"/>
          </a:p>
        </p:txBody>
      </p:sp>
      <p:sp>
        <p:nvSpPr>
          <p:cNvPr id="3" name="Text 1"/>
          <p:cNvSpPr txBox="1"/>
          <p:nvPr/>
        </p:nvSpPr>
        <p:spPr>
          <a:xfrm>
            <a:off x="548640" y="1325880"/>
            <a:ext cx="6766560" cy="3657600"/>
          </a:xfrm>
          <a:prstGeom prst="rect">
            <a:avLst/>
          </a:prstGeom>
          <a:noFill/>
          <a:ln/>
        </p:spPr>
        <p:txBody>
          <a:bodyPr wrap="square" lIns="0" tIns="0" rIns="0" bIns="0" rtlCol="0" anchor="t"/>
          <a:lstStyle/>
          <a:p>
            <a:pPr indent="0" marL="0">
              <a:spcAft>
                <a:spcPts val="1200"/>
              </a:spcAft>
              <a:buNone/>
            </a:pPr>
            <a:r>
              <a:rPr lang="en-US" sz="1800" dirty="0">
                <a:solidFill>
                  <a:schemeClr val="tx2"/>
                </a:solidFill>
              </a:rPr>
              <a:t>The dog covers the whole distance D in the same time T, starting from rest.</a:t>
            </a:r>
            <a:endParaRPr lang="en-US" sz="1800" dirty="0"/>
          </a:p>
          <a:p>
            <a:pPr indent="0" marL="0">
              <a:spcAft>
                <a:spcPts val="1200"/>
              </a:spcAft>
              <a:buNone/>
            </a:pPr>
            <a:r>
              <a:rPr lang="en-US" sz="1800" dirty="0">
                <a:solidFill>
                  <a:schemeClr val="tx1"/>
                </a:solidFill>
              </a:rPr>
              <a:t>Use  s = ½at</a:t>
            </a:r>
            <a:pPr indent="0" marL="0">
              <a:spcAft>
                <a:spcPts val="1200"/>
              </a:spcAft>
              <a:buNone/>
            </a:pPr>
            <a:r>
              <a:rPr lang="en-US" sz="1800" baseline="30000" dirty="0">
                <a:solidFill>
                  <a:schemeClr val="tx1"/>
                </a:solidFill>
              </a:rPr>
              <a:t>2</a:t>
            </a:r>
            <a:pPr indent="0" marL="0">
              <a:spcAft>
                <a:spcPts val="1200"/>
              </a:spcAft>
              <a:buNone/>
            </a:pPr>
            <a:r>
              <a:rPr lang="en-US" sz="1800" dirty="0">
                <a:solidFill>
                  <a:schemeClr val="tx1"/>
                </a:solidFill>
              </a:rPr>
              <a:t> :</a:t>
            </a:r>
            <a:endParaRPr lang="en-US" sz="1800" dirty="0"/>
          </a:p>
          <a:p>
            <a:pPr indent="0" marL="0">
              <a:spcAft>
                <a:spcPts val="1200"/>
              </a:spcAft>
              <a:buNone/>
            </a:pPr>
            <a:r>
              <a:rPr lang="en-US" sz="2400" b="1" dirty="0">
                <a:solidFill>
                  <a:schemeClr val="tx1"/>
                </a:solidFill>
              </a:rPr>
              <a:t>D = ½ a</a:t>
            </a:r>
            <a:pPr indent="0" marL="0">
              <a:spcAft>
                <a:spcPts val="1200"/>
              </a:spcAft>
              <a:buNone/>
            </a:pPr>
            <a:r>
              <a:rPr lang="en-US" sz="2400" b="1" baseline="-40000" dirty="0">
                <a:solidFill>
                  <a:schemeClr val="tx1"/>
                </a:solidFill>
              </a:rPr>
              <a:t>d</a:t>
            </a:r>
            <a:pPr indent="0" marL="0">
              <a:spcAft>
                <a:spcPts val="1200"/>
              </a:spcAft>
              <a:buNone/>
            </a:pPr>
            <a:r>
              <a:rPr lang="en-US" sz="2400" b="1" dirty="0">
                <a:solidFill>
                  <a:schemeClr val="tx1"/>
                </a:solidFill>
              </a:rPr>
              <a:t> T</a:t>
            </a:r>
            <a:pPr indent="0" marL="0">
              <a:spcAft>
                <a:spcPts val="1200"/>
              </a:spcAft>
              <a:buNone/>
            </a:pPr>
            <a:r>
              <a:rPr lang="en-US" sz="2400" b="1" baseline="30000" dirty="0">
                <a:solidFill>
                  <a:schemeClr val="tx1"/>
                </a:solidFill>
              </a:rPr>
              <a:t>2</a:t>
            </a:r>
            <a:pPr indent="0" marL="0">
              <a:spcAft>
                <a:spcPts val="1200"/>
              </a:spcAft>
              <a:buNone/>
            </a:pPr>
            <a:r>
              <a:rPr lang="en-US" sz="2400" b="1" dirty="0">
                <a:solidFill>
                  <a:schemeClr val="tx1"/>
                </a:solidFill>
              </a:rPr>
              <a:t>   ⟹   a</a:t>
            </a:r>
            <a:pPr indent="0" marL="0">
              <a:spcAft>
                <a:spcPts val="1200"/>
              </a:spcAft>
              <a:buNone/>
            </a:pPr>
            <a:r>
              <a:rPr lang="en-US" sz="2400" b="1" baseline="-40000" dirty="0">
                <a:solidFill>
                  <a:schemeClr val="tx1"/>
                </a:solidFill>
              </a:rPr>
              <a:t>d</a:t>
            </a:r>
            <a:pPr indent="0" marL="0">
              <a:spcAft>
                <a:spcPts val="1200"/>
              </a:spcAft>
              <a:buNone/>
            </a:pPr>
            <a:r>
              <a:rPr lang="en-US" sz="2400" b="1" dirty="0">
                <a:solidFill>
                  <a:schemeClr val="tx1"/>
                </a:solidFill>
              </a:rPr>
              <a:t> = 2D / T</a:t>
            </a:r>
            <a:pPr indent="0" marL="0">
              <a:spcAft>
                <a:spcPts val="1200"/>
              </a:spcAft>
              <a:buNone/>
            </a:pPr>
            <a:r>
              <a:rPr lang="en-US" sz="2400" b="1" baseline="30000" dirty="0">
                <a:solidFill>
                  <a:schemeClr val="tx1"/>
                </a:solidFill>
              </a:rPr>
              <a:t>2</a:t>
            </a:r>
            <a:endParaRPr lang="en-US" sz="1800" dirty="0"/>
          </a:p>
          <a:p>
            <a:pPr indent="0" marL="0">
              <a:spcAft>
                <a:spcPts val="1200"/>
              </a:spcAft>
              <a:buNone/>
            </a:pPr>
            <a:r>
              <a:rPr lang="en-US" sz="1800" dirty="0">
                <a:solidFill>
                  <a:schemeClr val="tx1"/>
                </a:solidFill>
              </a:rPr>
              <a:t>Put in T = 3D/(2V), so T</a:t>
            </a:r>
            <a:pPr indent="0" marL="0">
              <a:spcAft>
                <a:spcPts val="1200"/>
              </a:spcAft>
              <a:buNone/>
            </a:pPr>
            <a:r>
              <a:rPr lang="en-US" sz="1800" baseline="30000" dirty="0">
                <a:solidFill>
                  <a:schemeClr val="tx1"/>
                </a:solidFill>
              </a:rPr>
              <a:t>2</a:t>
            </a:r>
            <a:pPr indent="0" marL="0">
              <a:spcAft>
                <a:spcPts val="1200"/>
              </a:spcAft>
              <a:buNone/>
            </a:pPr>
            <a:r>
              <a:rPr lang="en-US" sz="1800" dirty="0">
                <a:solidFill>
                  <a:schemeClr val="tx1"/>
                </a:solidFill>
              </a:rPr>
              <a:t> = 9D</a:t>
            </a:r>
            <a:pPr indent="0" marL="0">
              <a:spcAft>
                <a:spcPts val="1200"/>
              </a:spcAft>
              <a:buNone/>
            </a:pPr>
            <a:r>
              <a:rPr lang="en-US" sz="1800" baseline="30000" dirty="0">
                <a:solidFill>
                  <a:schemeClr val="tx1"/>
                </a:solidFill>
              </a:rPr>
              <a:t>2</a:t>
            </a:r>
            <a:pPr indent="0" marL="0">
              <a:spcAft>
                <a:spcPts val="1200"/>
              </a:spcAft>
              <a:buNone/>
            </a:pPr>
            <a:r>
              <a:rPr lang="en-US" sz="1800" dirty="0">
                <a:solidFill>
                  <a:schemeClr val="tx1"/>
                </a:solidFill>
              </a:rPr>
              <a:t>/(4V</a:t>
            </a:r>
            <a:pPr indent="0" marL="0">
              <a:spcAft>
                <a:spcPts val="1200"/>
              </a:spcAft>
              <a:buNone/>
            </a:pPr>
            <a:r>
              <a:rPr lang="en-US" sz="1800" baseline="30000" dirty="0">
                <a:solidFill>
                  <a:schemeClr val="tx1"/>
                </a:solidFill>
              </a:rPr>
              <a:t>2</a:t>
            </a:r>
            <a:pPr indent="0" marL="0">
              <a:spcAft>
                <a:spcPts val="1200"/>
              </a:spcAft>
              <a:buNone/>
            </a:pPr>
            <a:r>
              <a:rPr lang="en-US" sz="1800" dirty="0">
                <a:solidFill>
                  <a:schemeClr val="tx1"/>
                </a:solidFill>
              </a:rPr>
              <a:t>):</a:t>
            </a:r>
            <a:endParaRPr lang="en-US" sz="1800" dirty="0"/>
          </a:p>
          <a:p>
            <a:pPr indent="0" marL="0">
              <a:spcAft>
                <a:spcPts val="1200"/>
              </a:spcAft>
              <a:buNone/>
            </a:pPr>
            <a:r>
              <a:rPr lang="en-US" sz="2400" b="1" dirty="0">
                <a:solidFill>
                  <a:schemeClr val="tx1"/>
                </a:solidFill>
              </a:rPr>
              <a:t>a</a:t>
            </a:r>
            <a:pPr indent="0" marL="0">
              <a:spcAft>
                <a:spcPts val="1200"/>
              </a:spcAft>
              <a:buNone/>
            </a:pPr>
            <a:r>
              <a:rPr lang="en-US" sz="2400" b="1" baseline="-40000" dirty="0">
                <a:solidFill>
                  <a:schemeClr val="tx1"/>
                </a:solidFill>
              </a:rPr>
              <a:t>d</a:t>
            </a:r>
            <a:pPr indent="0" marL="0">
              <a:spcAft>
                <a:spcPts val="1200"/>
              </a:spcAft>
              <a:buNone/>
            </a:pPr>
            <a:r>
              <a:rPr lang="en-US" sz="2400" b="1" dirty="0">
                <a:solidFill>
                  <a:schemeClr val="tx1"/>
                </a:solidFill>
              </a:rPr>
              <a:t> = 2D × 4V</a:t>
            </a:r>
            <a:pPr indent="0" marL="0">
              <a:spcAft>
                <a:spcPts val="1200"/>
              </a:spcAft>
              <a:buNone/>
            </a:pPr>
            <a:r>
              <a:rPr lang="en-US" sz="2400" b="1" baseline="30000" dirty="0">
                <a:solidFill>
                  <a:schemeClr val="tx1"/>
                </a:solidFill>
              </a:rPr>
              <a:t>2</a:t>
            </a:r>
            <a:pPr indent="0" marL="0">
              <a:spcAft>
                <a:spcPts val="1200"/>
              </a:spcAft>
              <a:buNone/>
            </a:pPr>
            <a:r>
              <a:rPr lang="en-US" sz="2400" b="1" dirty="0">
                <a:solidFill>
                  <a:schemeClr val="tx1"/>
                </a:solidFill>
              </a:rPr>
              <a:t> / (9D</a:t>
            </a:r>
            <a:pPr indent="0" marL="0">
              <a:spcAft>
                <a:spcPts val="1200"/>
              </a:spcAft>
              <a:buNone/>
            </a:pPr>
            <a:r>
              <a:rPr lang="en-US" sz="2400" b="1" baseline="30000" dirty="0">
                <a:solidFill>
                  <a:schemeClr val="tx1"/>
                </a:solidFill>
              </a:rPr>
              <a:t>2</a:t>
            </a:r>
            <a:pPr indent="0" marL="0">
              <a:spcAft>
                <a:spcPts val="1200"/>
              </a:spcAft>
              <a:buNone/>
            </a:pPr>
            <a:r>
              <a:rPr lang="en-US" sz="2400" b="1" dirty="0">
                <a:solidFill>
                  <a:schemeClr val="tx1"/>
                </a:solidFill>
              </a:rPr>
              <a:t>)</a:t>
            </a:r>
            <a:endParaRPr lang="en-US" sz="1800" dirty="0"/>
          </a:p>
        </p:txBody>
      </p:sp>
      <p:sp>
        <p:nvSpPr>
          <p:cNvPr id="4" name="dog acceleration result"/>
          <p:cNvSpPr/>
          <p:nvPr/>
        </p:nvSpPr>
        <p:spPr>
          <a:xfrm>
            <a:off x="548640" y="4343400"/>
            <a:ext cx="4572000" cy="1005840"/>
          </a:xfrm>
          <a:prstGeom prst="roundRect">
            <a:avLst>
              <a:gd name="adj" fmla="val 9091"/>
            </a:avLst>
          </a:prstGeom>
          <a:solidFill>
            <a:schemeClr val="accent6"/>
          </a:solidFill>
          <a:ln w="19050">
            <a:solidFill>
              <a:schemeClr val="accent1"/>
            </a:solidFill>
            <a:prstDash val="solid"/>
          </a:ln>
        </p:spPr>
      </p:sp>
      <p:sp>
        <p:nvSpPr>
          <p:cNvPr id="5" name="Text 3"/>
          <p:cNvSpPr txBox="1"/>
          <p:nvPr/>
        </p:nvSpPr>
        <p:spPr>
          <a:xfrm>
            <a:off x="548640" y="4343400"/>
            <a:ext cx="4572000" cy="1005840"/>
          </a:xfrm>
          <a:prstGeom prst="rect">
            <a:avLst/>
          </a:prstGeom>
          <a:noFill/>
          <a:ln/>
        </p:spPr>
        <p:txBody>
          <a:bodyPr wrap="square" lIns="1270" tIns="1270" rIns="1270" bIns="1270" rtlCol="0" anchor="ctr"/>
          <a:lstStyle/>
          <a:p>
            <a:pPr algn="ctr" indent="0" marL="0">
              <a:buNone/>
            </a:pPr>
            <a:r>
              <a:rPr lang="en-US" sz="2600" b="1" dirty="0">
                <a:solidFill>
                  <a:schemeClr val="tx1"/>
                </a:solidFill>
              </a:rPr>
              <a:t>a</a:t>
            </a:r>
            <a:pPr algn="ctr" indent="0" marL="0">
              <a:buNone/>
            </a:pPr>
            <a:r>
              <a:rPr lang="en-US" sz="2600" b="1" baseline="-40000" dirty="0">
                <a:solidFill>
                  <a:schemeClr val="tx1"/>
                </a:solidFill>
              </a:rPr>
              <a:t>d</a:t>
            </a:r>
            <a:pPr algn="ctr" indent="0" marL="0">
              <a:buNone/>
            </a:pPr>
            <a:r>
              <a:rPr lang="en-US" sz="2600" b="1" dirty="0">
                <a:solidFill>
                  <a:schemeClr val="tx1"/>
                </a:solidFill>
              </a:rPr>
              <a:t> = 8V</a:t>
            </a:r>
            <a:pPr algn="ctr" indent="0" marL="0">
              <a:buNone/>
            </a:pPr>
            <a:r>
              <a:rPr lang="en-US" sz="2600" b="1" baseline="30000" dirty="0">
                <a:solidFill>
                  <a:schemeClr val="tx1"/>
                </a:solidFill>
              </a:rPr>
              <a:t>2</a:t>
            </a:r>
            <a:pPr algn="ctr" indent="0" marL="0">
              <a:buNone/>
            </a:pPr>
            <a:r>
              <a:rPr lang="en-US" sz="2600" b="1" dirty="0">
                <a:solidFill>
                  <a:schemeClr val="tx1"/>
                </a:solidFill>
              </a:rPr>
              <a:t> / (9D)</a:t>
            </a:r>
            <a:endParaRPr lang="en-US" sz="2600" dirty="0"/>
          </a:p>
        </p:txBody>
      </p:sp>
      <p:sp>
        <p:nvSpPr>
          <p:cNvPr id="6" name="dog note card"/>
          <p:cNvSpPr/>
          <p:nvPr/>
        </p:nvSpPr>
        <p:spPr>
          <a:xfrm>
            <a:off x="7680960" y="1325880"/>
            <a:ext cx="3931920" cy="2743200"/>
          </a:xfrm>
          <a:prstGeom prst="roundRect">
            <a:avLst>
              <a:gd name="adj" fmla="val 4000"/>
            </a:avLst>
          </a:prstGeom>
          <a:solidFill>
            <a:schemeClr val="bg2"/>
          </a:solidFill>
          <a:ln w="12700">
            <a:solidFill>
              <a:schemeClr val="bg2"/>
            </a:solidFill>
            <a:prstDash val="solid"/>
          </a:ln>
        </p:spPr>
      </p:sp>
      <p:sp>
        <p:nvSpPr>
          <p:cNvPr id="7" name="Text 5"/>
          <p:cNvSpPr txBox="1"/>
          <p:nvPr/>
        </p:nvSpPr>
        <p:spPr>
          <a:xfrm>
            <a:off x="7955280" y="1554480"/>
            <a:ext cx="3383280" cy="2377440"/>
          </a:xfrm>
          <a:prstGeom prst="rect">
            <a:avLst/>
          </a:prstGeom>
          <a:noFill/>
          <a:ln/>
        </p:spPr>
        <p:txBody>
          <a:bodyPr wrap="square" lIns="0" tIns="0" rIns="0" bIns="0" rtlCol="0" anchor="t"/>
          <a:lstStyle/>
          <a:p>
            <a:pPr indent="0" marL="0">
              <a:spcAft>
                <a:spcPts val="1200"/>
              </a:spcAft>
              <a:buNone/>
            </a:pPr>
            <a:r>
              <a:rPr lang="en-US" sz="2000" b="1" dirty="0">
                <a:solidFill>
                  <a:schemeClr val="accent4"/>
                </a:solidFill>
              </a:rPr>
              <a:t>Why this works</a:t>
            </a:r>
            <a:endParaRPr lang="en-US" sz="2000" dirty="0"/>
          </a:p>
          <a:p>
            <a:pPr indent="0" marL="0">
              <a:spcAft>
                <a:spcPts val="1200"/>
              </a:spcAft>
              <a:buNone/>
            </a:pPr>
            <a:r>
              <a:rPr lang="en-US" sz="1700" dirty="0">
                <a:solidFill>
                  <a:schemeClr val="tx1"/>
                </a:solidFill>
              </a:rPr>
              <a:t>We don't know D, V or T as numbers, and we don't need them.</a:t>
            </a:r>
            <a:endParaRPr lang="en-US" sz="2000" dirty="0"/>
          </a:p>
          <a:p>
            <a:pPr indent="0" marL="0">
              <a:spcAft>
                <a:spcPts val="1200"/>
              </a:spcAft>
              <a:buNone/>
            </a:pPr>
            <a:r>
              <a:rPr lang="en-US" sz="1700" dirty="0">
                <a:solidFill>
                  <a:schemeClr val="tx1"/>
                </a:solidFill>
              </a:rPr>
              <a:t>Writing everything in terms of D and V lets the unknowns cancel out in the next step.</a:t>
            </a:r>
            <a:endParaRPr lang="en-US" sz="20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Answer 1 · The ratio of the accelerations</a:t>
            </a:r>
            <a:endParaRPr lang="en-US" sz="3200" dirty="0"/>
          </a:p>
        </p:txBody>
      </p:sp>
      <p:sp>
        <p:nvSpPr>
          <p:cNvPr id="3" name="Text 1"/>
          <p:cNvSpPr txBox="1"/>
          <p:nvPr/>
        </p:nvSpPr>
        <p:spPr>
          <a:xfrm>
            <a:off x="548640" y="1325880"/>
            <a:ext cx="6400800" cy="2377440"/>
          </a:xfrm>
          <a:prstGeom prst="rect">
            <a:avLst/>
          </a:prstGeom>
          <a:noFill/>
          <a:ln/>
        </p:spPr>
        <p:txBody>
          <a:bodyPr wrap="square" lIns="0" tIns="0" rIns="0" bIns="0" rtlCol="0" anchor="t"/>
          <a:lstStyle/>
          <a:p>
            <a:pPr indent="0" marL="0">
              <a:spcAft>
                <a:spcPts val="1200"/>
              </a:spcAft>
              <a:buNone/>
            </a:pPr>
            <a:r>
              <a:rPr lang="en-US" sz="1800" dirty="0">
                <a:solidFill>
                  <a:schemeClr val="tx1"/>
                </a:solidFill>
              </a:rPr>
              <a:t>Divide the dog's acceleration by the cheetah's:</a:t>
            </a:r>
            <a:endParaRPr lang="en-US" sz="1800" dirty="0"/>
          </a:p>
          <a:p>
            <a:pPr indent="0" marL="0">
              <a:spcAft>
                <a:spcPts val="1200"/>
              </a:spcAft>
              <a:buNone/>
            </a:pPr>
            <a:r>
              <a:rPr lang="en-US" sz="2400" b="1" dirty="0">
                <a:solidFill>
                  <a:schemeClr val="tx1"/>
                </a:solidFill>
              </a:rPr>
              <a:t>a</a:t>
            </a:r>
            <a:pPr indent="0" marL="0">
              <a:spcAft>
                <a:spcPts val="1200"/>
              </a:spcAft>
              <a:buNone/>
            </a:pPr>
            <a:r>
              <a:rPr lang="en-US" sz="2400" b="1" baseline="-40000" dirty="0">
                <a:solidFill>
                  <a:schemeClr val="tx1"/>
                </a:solidFill>
              </a:rPr>
              <a:t>d</a:t>
            </a:r>
            <a:pPr indent="0" marL="0">
              <a:spcAft>
                <a:spcPts val="1200"/>
              </a:spcAft>
              <a:buNone/>
            </a:pPr>
            <a:r>
              <a:rPr lang="en-US" sz="2400" b="1" dirty="0">
                <a:solidFill>
                  <a:schemeClr val="tx1"/>
                </a:solidFill>
              </a:rPr>
              <a:t> / a</a:t>
            </a:r>
            <a:pPr indent="0" marL="0">
              <a:spcAft>
                <a:spcPts val="1200"/>
              </a:spcAft>
              <a:buNone/>
            </a:pPr>
            <a:r>
              <a:rPr lang="en-US" sz="2400" b="1" baseline="-40000" dirty="0">
                <a:solidFill>
                  <a:schemeClr val="tx1"/>
                </a:solidFill>
              </a:rPr>
              <a:t>c</a:t>
            </a:r>
            <a:pPr indent="0" marL="0">
              <a:spcAft>
                <a:spcPts val="1200"/>
              </a:spcAft>
              <a:buNone/>
            </a:pPr>
            <a:r>
              <a:rPr lang="en-US" sz="2400" b="1" dirty="0">
                <a:solidFill>
                  <a:schemeClr val="tx1"/>
                </a:solidFill>
              </a:rPr>
              <a:t> = [8V</a:t>
            </a:r>
            <a:pPr indent="0" marL="0">
              <a:spcAft>
                <a:spcPts val="1200"/>
              </a:spcAft>
              <a:buNone/>
            </a:pPr>
            <a:r>
              <a:rPr lang="en-US" sz="2400" b="1" baseline="30000" dirty="0">
                <a:solidFill>
                  <a:schemeClr val="tx1"/>
                </a:solidFill>
              </a:rPr>
              <a:t>2</a:t>
            </a:r>
            <a:pPr indent="0" marL="0">
              <a:spcAft>
                <a:spcPts val="1200"/>
              </a:spcAft>
              <a:buNone/>
            </a:pPr>
            <a:r>
              <a:rPr lang="en-US" sz="2400" b="1" dirty="0">
                <a:solidFill>
                  <a:schemeClr val="tx1"/>
                </a:solidFill>
              </a:rPr>
              <a:t>/(9D)] ÷ [V</a:t>
            </a:r>
            <a:pPr indent="0" marL="0">
              <a:spcAft>
                <a:spcPts val="1200"/>
              </a:spcAft>
              <a:buNone/>
            </a:pPr>
            <a:r>
              <a:rPr lang="en-US" sz="2400" b="1" baseline="30000" dirty="0">
                <a:solidFill>
                  <a:schemeClr val="tx1"/>
                </a:solidFill>
              </a:rPr>
              <a:t>2</a:t>
            </a:r>
            <a:pPr indent="0" marL="0">
              <a:spcAft>
                <a:spcPts val="1200"/>
              </a:spcAft>
              <a:buNone/>
            </a:pPr>
            <a:r>
              <a:rPr lang="en-US" sz="2400" b="1" dirty="0">
                <a:solidFill>
                  <a:schemeClr val="tx1"/>
                </a:solidFill>
              </a:rPr>
              <a:t>/D]</a:t>
            </a:r>
            <a:endParaRPr lang="en-US" sz="1800" dirty="0"/>
          </a:p>
          <a:p>
            <a:pPr indent="0" marL="0">
              <a:spcAft>
                <a:spcPts val="1200"/>
              </a:spcAft>
              <a:buNone/>
            </a:pPr>
            <a:r>
              <a:rPr lang="en-US" sz="1800" dirty="0">
                <a:solidFill>
                  <a:schemeClr val="tx2"/>
                </a:solidFill>
              </a:rPr>
              <a:t>V</a:t>
            </a:r>
            <a:pPr indent="0" marL="0">
              <a:spcAft>
                <a:spcPts val="1200"/>
              </a:spcAft>
              <a:buNone/>
            </a:pPr>
            <a:r>
              <a:rPr lang="en-US" sz="1800" baseline="30000" dirty="0">
                <a:solidFill>
                  <a:schemeClr val="tx2"/>
                </a:solidFill>
              </a:rPr>
              <a:t>2</a:t>
            </a:r>
            <a:pPr indent="0" marL="0">
              <a:spcAft>
                <a:spcPts val="1200"/>
              </a:spcAft>
              <a:buNone/>
            </a:pPr>
            <a:r>
              <a:rPr lang="en-US" sz="1800" dirty="0">
                <a:solidFill>
                  <a:schemeClr val="tx2"/>
                </a:solidFill>
              </a:rPr>
              <a:t> and D cancel, leaving just a number.</a:t>
            </a:r>
            <a:endParaRPr lang="en-US" sz="1800" dirty="0"/>
          </a:p>
        </p:txBody>
      </p:sp>
      <p:sp>
        <p:nvSpPr>
          <p:cNvPr id="4" name="ratio stat card"/>
          <p:cNvSpPr/>
          <p:nvPr/>
        </p:nvSpPr>
        <p:spPr>
          <a:xfrm>
            <a:off x="7315200" y="1325880"/>
            <a:ext cx="4297680" cy="3017520"/>
          </a:xfrm>
          <a:prstGeom prst="roundRect">
            <a:avLst>
              <a:gd name="adj" fmla="val 3636"/>
            </a:avLst>
          </a:prstGeom>
          <a:solidFill>
            <a:schemeClr val="accent6"/>
          </a:solidFill>
          <a:ln w="12700">
            <a:solidFill>
              <a:schemeClr val="accent6"/>
            </a:solidFill>
            <a:prstDash val="solid"/>
          </a:ln>
        </p:spPr>
      </p:sp>
      <p:sp>
        <p:nvSpPr>
          <p:cNvPr id="5" name="Text 3"/>
          <p:cNvSpPr txBox="1"/>
          <p:nvPr/>
        </p:nvSpPr>
        <p:spPr>
          <a:xfrm>
            <a:off x="7315200" y="1463040"/>
            <a:ext cx="4297680" cy="548640"/>
          </a:xfrm>
          <a:prstGeom prst="rect">
            <a:avLst/>
          </a:prstGeom>
          <a:noFill/>
          <a:ln/>
        </p:spPr>
        <p:txBody>
          <a:bodyPr wrap="square" lIns="0" tIns="0" rIns="0" bIns="0" rtlCol="0" anchor="ctr"/>
          <a:lstStyle/>
          <a:p>
            <a:pPr algn="ctr" indent="0" marL="0">
              <a:buNone/>
            </a:pPr>
            <a:r>
              <a:rPr lang="en-US" sz="2200" dirty="0">
                <a:solidFill>
                  <a:schemeClr val="tx2"/>
                </a:solidFill>
              </a:rPr>
              <a:t>a</a:t>
            </a:r>
            <a:pPr algn="ctr" indent="0" marL="0">
              <a:buNone/>
            </a:pPr>
            <a:r>
              <a:rPr lang="en-US" sz="2200" baseline="-40000" dirty="0">
                <a:solidFill>
                  <a:schemeClr val="tx2"/>
                </a:solidFill>
              </a:rPr>
              <a:t>d</a:t>
            </a:r>
            <a:pPr algn="ctr" indent="0" marL="0">
              <a:buNone/>
            </a:pPr>
            <a:r>
              <a:rPr lang="en-US" sz="2200" dirty="0">
                <a:solidFill>
                  <a:schemeClr val="tx2"/>
                </a:solidFill>
              </a:rPr>
              <a:t> / a</a:t>
            </a:r>
            <a:pPr algn="ctr" indent="0" marL="0">
              <a:buNone/>
            </a:pPr>
            <a:r>
              <a:rPr lang="en-US" sz="2200" baseline="-40000" dirty="0">
                <a:solidFill>
                  <a:schemeClr val="tx2"/>
                </a:solidFill>
              </a:rPr>
              <a:t>c</a:t>
            </a:r>
            <a:endParaRPr lang="en-US" sz="2200" dirty="0"/>
          </a:p>
        </p:txBody>
      </p:sp>
      <p:sp>
        <p:nvSpPr>
          <p:cNvPr id="6" name="Text 4"/>
          <p:cNvSpPr txBox="1"/>
          <p:nvPr/>
        </p:nvSpPr>
        <p:spPr>
          <a:xfrm>
            <a:off x="7315200" y="1965960"/>
            <a:ext cx="4297680" cy="1463040"/>
          </a:xfrm>
          <a:prstGeom prst="rect">
            <a:avLst/>
          </a:prstGeom>
          <a:noFill/>
          <a:ln/>
        </p:spPr>
        <p:txBody>
          <a:bodyPr wrap="square" lIns="0" tIns="0" rIns="0" bIns="0" rtlCol="0" anchor="ctr"/>
          <a:lstStyle/>
          <a:p>
            <a:pPr algn="ctr" indent="0" marL="0">
              <a:buNone/>
            </a:pPr>
            <a:r>
              <a:rPr lang="en-US" sz="7200" b="1" dirty="0">
                <a:solidFill>
                  <a:schemeClr val="accent3"/>
                </a:solidFill>
              </a:rPr>
              <a:t>8/9</a:t>
            </a:r>
            <a:endParaRPr lang="en-US" sz="7200" dirty="0"/>
          </a:p>
        </p:txBody>
      </p:sp>
      <p:sp>
        <p:nvSpPr>
          <p:cNvPr id="7" name="Text 5"/>
          <p:cNvSpPr txBox="1"/>
          <p:nvPr/>
        </p:nvSpPr>
        <p:spPr>
          <a:xfrm>
            <a:off x="7315200" y="3429000"/>
            <a:ext cx="4297680" cy="640080"/>
          </a:xfrm>
          <a:prstGeom prst="rect">
            <a:avLst/>
          </a:prstGeom>
          <a:noFill/>
          <a:ln/>
        </p:spPr>
        <p:txBody>
          <a:bodyPr wrap="square" lIns="0" tIns="0" rIns="0" bIns="0" rtlCol="0" anchor="ctr"/>
          <a:lstStyle/>
          <a:p>
            <a:pPr algn="ctr" indent="0" marL="0">
              <a:buNone/>
            </a:pPr>
            <a:r>
              <a:rPr lang="en-US" sz="2400" dirty="0">
                <a:solidFill>
                  <a:schemeClr val="tx1"/>
                </a:solidFill>
              </a:rPr>
              <a:t>≈ 0.89</a:t>
            </a:r>
            <a:endParaRPr lang="en-US" sz="2400" dirty="0"/>
          </a:p>
        </p:txBody>
      </p:sp>
      <p:sp>
        <p:nvSpPr>
          <p:cNvPr id="8" name="meaning card"/>
          <p:cNvSpPr/>
          <p:nvPr/>
        </p:nvSpPr>
        <p:spPr>
          <a:xfrm>
            <a:off x="548640" y="3977640"/>
            <a:ext cx="6400800" cy="2148840"/>
          </a:xfrm>
          <a:prstGeom prst="roundRect">
            <a:avLst>
              <a:gd name="adj" fmla="val 5106"/>
            </a:avLst>
          </a:prstGeom>
          <a:solidFill>
            <a:schemeClr val="bg2"/>
          </a:solidFill>
          <a:ln w="12700">
            <a:solidFill>
              <a:schemeClr val="bg2"/>
            </a:solidFill>
            <a:prstDash val="solid"/>
          </a:ln>
        </p:spPr>
      </p:sp>
      <p:sp>
        <p:nvSpPr>
          <p:cNvPr id="9" name="Text 7"/>
          <p:cNvSpPr txBox="1"/>
          <p:nvPr/>
        </p:nvSpPr>
        <p:spPr>
          <a:xfrm>
            <a:off x="822960" y="4114800"/>
            <a:ext cx="5852160" cy="192024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What it means</a:t>
            </a:r>
            <a:endParaRPr lang="en-US" sz="2000" dirty="0"/>
          </a:p>
          <a:p>
            <a:pPr indent="0" marL="0">
              <a:spcAft>
                <a:spcPts val="800"/>
              </a:spcAft>
              <a:buNone/>
            </a:pPr>
            <a:r>
              <a:rPr lang="en-US" sz="1700" dirty="0">
                <a:solidFill>
                  <a:schemeClr val="tx1"/>
                </a:solidFill>
              </a:rPr>
              <a:t>The dog's acceleration is 8/9 of the cheetah's, about 11 % smaller.</a:t>
            </a:r>
            <a:endParaRPr lang="en-US" sz="2000" dirty="0"/>
          </a:p>
          <a:p>
            <a:pPr indent="0" marL="0">
              <a:spcAft>
                <a:spcPts val="800"/>
              </a:spcAft>
              <a:buNone/>
            </a:pPr>
            <a:r>
              <a:rPr lang="en-US" sz="1700" dirty="0">
                <a:solidFill>
                  <a:schemeClr val="tx1"/>
                </a:solidFill>
              </a:rPr>
              <a:t>The dog can afford a gentler acceleration because it keeps accelerating for the whole chase, while the cheetah stops halfway.</a:t>
            </a:r>
            <a:endParaRPr lang="en-US" sz="20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Answer 2 · Who is faster at the finish?</a:t>
            </a:r>
            <a:endParaRPr lang="en-US" sz="3200" dirty="0"/>
          </a:p>
        </p:txBody>
      </p:sp>
      <p:sp>
        <p:nvSpPr>
          <p:cNvPr id="3" name="Cheetah speed card"/>
          <p:cNvSpPr/>
          <p:nvPr/>
        </p:nvSpPr>
        <p:spPr>
          <a:xfrm>
            <a:off x="548640" y="1325880"/>
            <a:ext cx="3520440" cy="2926080"/>
          </a:xfrm>
          <a:prstGeom prst="roundRect">
            <a:avLst>
              <a:gd name="adj" fmla="val 3750"/>
            </a:avLst>
          </a:prstGeom>
          <a:solidFill>
            <a:srgbClr val="FFFFFF"/>
          </a:solidFill>
          <a:ln w="25400">
            <a:solidFill>
              <a:schemeClr val="accent1"/>
            </a:solidFill>
            <a:prstDash val="solid"/>
          </a:ln>
        </p:spPr>
      </p:sp>
      <p:sp>
        <p:nvSpPr>
          <p:cNvPr id="4" name="Text 2"/>
          <p:cNvSpPr txBox="1"/>
          <p:nvPr/>
        </p:nvSpPr>
        <p:spPr>
          <a:xfrm>
            <a:off x="777240" y="1463040"/>
            <a:ext cx="3063240" cy="457200"/>
          </a:xfrm>
          <a:prstGeom prst="rect">
            <a:avLst/>
          </a:prstGeom>
          <a:noFill/>
          <a:ln/>
        </p:spPr>
        <p:txBody>
          <a:bodyPr wrap="square" lIns="0" tIns="0" rIns="0" bIns="0" rtlCol="0" anchor="ctr"/>
          <a:lstStyle/>
          <a:p>
            <a:pPr indent="0" marL="0">
              <a:buNone/>
            </a:pPr>
            <a:r>
              <a:rPr lang="en-US" sz="1800" b="1" dirty="0">
                <a:solidFill>
                  <a:schemeClr val="accent3"/>
                </a:solidFill>
              </a:rPr>
              <a:t>Cheetah's final speed</a:t>
            </a:r>
            <a:endParaRPr lang="en-US" sz="1800" dirty="0"/>
          </a:p>
        </p:txBody>
      </p:sp>
      <p:sp>
        <p:nvSpPr>
          <p:cNvPr id="5" name="Text 3"/>
          <p:cNvSpPr txBox="1"/>
          <p:nvPr/>
        </p:nvSpPr>
        <p:spPr>
          <a:xfrm>
            <a:off x="777240" y="1920240"/>
            <a:ext cx="3063240" cy="1005840"/>
          </a:xfrm>
          <a:prstGeom prst="rect">
            <a:avLst/>
          </a:prstGeom>
          <a:noFill/>
          <a:ln/>
        </p:spPr>
        <p:txBody>
          <a:bodyPr wrap="square" lIns="0" tIns="0" rIns="0" bIns="0" rtlCol="0" anchor="ctr"/>
          <a:lstStyle/>
          <a:p>
            <a:pPr indent="0" marL="0">
              <a:buNone/>
            </a:pPr>
            <a:r>
              <a:rPr lang="en-US" sz="5400" b="1" dirty="0">
                <a:solidFill>
                  <a:schemeClr val="tx1"/>
                </a:solidFill>
              </a:rPr>
              <a:t>V</a:t>
            </a:r>
            <a:endParaRPr lang="en-US" sz="5400" dirty="0"/>
          </a:p>
        </p:txBody>
      </p:sp>
      <p:sp>
        <p:nvSpPr>
          <p:cNvPr id="6" name="Text 4"/>
          <p:cNvSpPr txBox="1"/>
          <p:nvPr/>
        </p:nvSpPr>
        <p:spPr>
          <a:xfrm>
            <a:off x="777240" y="3017520"/>
            <a:ext cx="3063240" cy="1097280"/>
          </a:xfrm>
          <a:prstGeom prst="rect">
            <a:avLst/>
          </a:prstGeom>
          <a:noFill/>
          <a:ln/>
        </p:spPr>
        <p:txBody>
          <a:bodyPr wrap="square" lIns="0" tIns="0" rIns="0" bIns="0" rtlCol="0" anchor="t"/>
          <a:lstStyle/>
          <a:p>
            <a:pPr indent="0" marL="0">
              <a:buNone/>
            </a:pPr>
            <a:r>
              <a:rPr lang="en-US" sz="1500" dirty="0">
                <a:solidFill>
                  <a:schemeClr val="tx2"/>
                </a:solidFill>
              </a:rPr>
              <a:t>It stopped speeding up at halfway, so it finishes at its top speed V.</a:t>
            </a:r>
            <a:endParaRPr lang="en-US" sz="1500" dirty="0"/>
          </a:p>
        </p:txBody>
      </p:sp>
      <p:sp>
        <p:nvSpPr>
          <p:cNvPr id="7" name="Dog speed card"/>
          <p:cNvSpPr/>
          <p:nvPr/>
        </p:nvSpPr>
        <p:spPr>
          <a:xfrm>
            <a:off x="4343400" y="1325880"/>
            <a:ext cx="3520440" cy="2926080"/>
          </a:xfrm>
          <a:prstGeom prst="roundRect">
            <a:avLst>
              <a:gd name="adj" fmla="val 3750"/>
            </a:avLst>
          </a:prstGeom>
          <a:solidFill>
            <a:srgbClr val="FFFFFF"/>
          </a:solidFill>
          <a:ln w="25400">
            <a:solidFill>
              <a:schemeClr val="accent2"/>
            </a:solidFill>
            <a:prstDash val="solid"/>
          </a:ln>
        </p:spPr>
      </p:sp>
      <p:sp>
        <p:nvSpPr>
          <p:cNvPr id="8" name="Text 6"/>
          <p:cNvSpPr txBox="1"/>
          <p:nvPr/>
        </p:nvSpPr>
        <p:spPr>
          <a:xfrm>
            <a:off x="4572000" y="1463040"/>
            <a:ext cx="3063240" cy="457200"/>
          </a:xfrm>
          <a:prstGeom prst="rect">
            <a:avLst/>
          </a:prstGeom>
          <a:noFill/>
          <a:ln/>
        </p:spPr>
        <p:txBody>
          <a:bodyPr wrap="square" lIns="0" tIns="0" rIns="0" bIns="0" rtlCol="0" anchor="ctr"/>
          <a:lstStyle/>
          <a:p>
            <a:pPr indent="0" marL="0">
              <a:buNone/>
            </a:pPr>
            <a:r>
              <a:rPr lang="en-US" sz="1800" b="1" dirty="0">
                <a:solidFill>
                  <a:schemeClr val="accent4"/>
                </a:solidFill>
              </a:rPr>
              <a:t>Dog's final speed</a:t>
            </a:r>
            <a:endParaRPr lang="en-US" sz="1800" dirty="0"/>
          </a:p>
        </p:txBody>
      </p:sp>
      <p:sp>
        <p:nvSpPr>
          <p:cNvPr id="9" name="Text 7"/>
          <p:cNvSpPr txBox="1"/>
          <p:nvPr/>
        </p:nvSpPr>
        <p:spPr>
          <a:xfrm>
            <a:off x="4572000" y="1920240"/>
            <a:ext cx="3063240" cy="1005840"/>
          </a:xfrm>
          <a:prstGeom prst="rect">
            <a:avLst/>
          </a:prstGeom>
          <a:noFill/>
          <a:ln/>
        </p:spPr>
        <p:txBody>
          <a:bodyPr wrap="square" lIns="0" tIns="0" rIns="0" bIns="0" rtlCol="0" anchor="ctr"/>
          <a:lstStyle/>
          <a:p>
            <a:pPr indent="0" marL="0">
              <a:buNone/>
            </a:pPr>
            <a:r>
              <a:rPr lang="en-US" sz="5400" b="1" dirty="0">
                <a:solidFill>
                  <a:schemeClr val="tx1"/>
                </a:solidFill>
              </a:rPr>
              <a:t>4V/3</a:t>
            </a:r>
            <a:endParaRPr lang="en-US" sz="5400" dirty="0"/>
          </a:p>
        </p:txBody>
      </p:sp>
      <p:sp>
        <p:nvSpPr>
          <p:cNvPr id="10" name="Text 8"/>
          <p:cNvSpPr txBox="1"/>
          <p:nvPr/>
        </p:nvSpPr>
        <p:spPr>
          <a:xfrm>
            <a:off x="4572000" y="3017520"/>
            <a:ext cx="3063240" cy="1097280"/>
          </a:xfrm>
          <a:prstGeom prst="rect">
            <a:avLst/>
          </a:prstGeom>
          <a:noFill/>
          <a:ln/>
        </p:spPr>
        <p:txBody>
          <a:bodyPr wrap="square" lIns="0" tIns="0" rIns="0" bIns="0" rtlCol="0" anchor="t"/>
          <a:lstStyle/>
          <a:p>
            <a:pPr indent="0" marL="0">
              <a:buNone/>
            </a:pPr>
            <a:r>
              <a:rPr lang="en-US" sz="1500" dirty="0">
                <a:solidFill>
                  <a:schemeClr val="tx2"/>
                </a:solidFill>
              </a:rPr>
              <a:t>v = a</a:t>
            </a:r>
            <a:pPr indent="0" marL="0">
              <a:buNone/>
            </a:pPr>
            <a:r>
              <a:rPr lang="en-US" sz="1500" baseline="-40000" dirty="0">
                <a:solidFill>
                  <a:schemeClr val="tx2"/>
                </a:solidFill>
              </a:rPr>
              <a:t>d</a:t>
            </a:r>
            <a:pPr indent="0" marL="0">
              <a:buNone/>
            </a:pPr>
            <a:r>
              <a:rPr lang="en-US" sz="1500" dirty="0">
                <a:solidFill>
                  <a:schemeClr val="tx2"/>
                </a:solidFill>
              </a:rPr>
              <a:t> T = [8V</a:t>
            </a:r>
            <a:pPr indent="0" marL="0">
              <a:buNone/>
            </a:pPr>
            <a:r>
              <a:rPr lang="en-US" sz="1500" baseline="30000" dirty="0">
                <a:solidFill>
                  <a:schemeClr val="tx2"/>
                </a:solidFill>
              </a:rPr>
              <a:t>2</a:t>
            </a:r>
            <a:pPr indent="0" marL="0">
              <a:buNone/>
            </a:pPr>
            <a:r>
              <a:rPr lang="en-US" sz="1500" dirty="0">
                <a:solidFill>
                  <a:schemeClr val="tx2"/>
                </a:solidFill>
              </a:rPr>
              <a:t>/(9D)] × [3D/(2V)] = 4V/3</a:t>
            </a:r>
            <a:endParaRPr lang="en-US" sz="1500" dirty="0"/>
          </a:p>
        </p:txBody>
      </p:sp>
      <p:sp>
        <p:nvSpPr>
          <p:cNvPr id="11" name="factor stat card"/>
          <p:cNvSpPr/>
          <p:nvPr/>
        </p:nvSpPr>
        <p:spPr>
          <a:xfrm>
            <a:off x="8138160" y="1325880"/>
            <a:ext cx="3474720" cy="2926080"/>
          </a:xfrm>
          <a:prstGeom prst="roundRect">
            <a:avLst>
              <a:gd name="adj" fmla="val 3750"/>
            </a:avLst>
          </a:prstGeom>
          <a:solidFill>
            <a:schemeClr val="accent6"/>
          </a:solidFill>
          <a:ln w="12700">
            <a:solidFill>
              <a:schemeClr val="accent6"/>
            </a:solidFill>
            <a:prstDash val="solid"/>
          </a:ln>
        </p:spPr>
      </p:sp>
      <p:sp>
        <p:nvSpPr>
          <p:cNvPr id="12" name="Text 10"/>
          <p:cNvSpPr txBox="1"/>
          <p:nvPr/>
        </p:nvSpPr>
        <p:spPr>
          <a:xfrm>
            <a:off x="8138160" y="1463040"/>
            <a:ext cx="3474720" cy="457200"/>
          </a:xfrm>
          <a:prstGeom prst="rect">
            <a:avLst/>
          </a:prstGeom>
          <a:noFill/>
          <a:ln/>
        </p:spPr>
        <p:txBody>
          <a:bodyPr wrap="square" lIns="0" tIns="0" rIns="0" bIns="0" rtlCol="0" anchor="ctr"/>
          <a:lstStyle/>
          <a:p>
            <a:pPr algn="ctr" indent="0" marL="0">
              <a:buNone/>
            </a:pPr>
            <a:r>
              <a:rPr lang="en-US" sz="1800" dirty="0">
                <a:solidFill>
                  <a:schemeClr val="tx2"/>
                </a:solidFill>
              </a:rPr>
              <a:t>The dog is faster by</a:t>
            </a:r>
            <a:endParaRPr lang="en-US" sz="1800" dirty="0"/>
          </a:p>
        </p:txBody>
      </p:sp>
      <p:sp>
        <p:nvSpPr>
          <p:cNvPr id="13" name="Text 11"/>
          <p:cNvSpPr txBox="1"/>
          <p:nvPr/>
        </p:nvSpPr>
        <p:spPr>
          <a:xfrm>
            <a:off x="8138160" y="1920240"/>
            <a:ext cx="3474720" cy="1280160"/>
          </a:xfrm>
          <a:prstGeom prst="rect">
            <a:avLst/>
          </a:prstGeom>
          <a:noFill/>
          <a:ln/>
        </p:spPr>
        <p:txBody>
          <a:bodyPr wrap="square" lIns="0" tIns="0" rIns="0" bIns="0" rtlCol="0" anchor="ctr"/>
          <a:lstStyle/>
          <a:p>
            <a:pPr algn="ctr" indent="0" marL="0">
              <a:buNone/>
            </a:pPr>
            <a:r>
              <a:rPr lang="en-US" sz="7200" b="1" dirty="0">
                <a:solidFill>
                  <a:schemeClr val="accent4"/>
                </a:solidFill>
              </a:rPr>
              <a:t>4/3</a:t>
            </a:r>
            <a:endParaRPr lang="en-US" sz="7200" dirty="0"/>
          </a:p>
        </p:txBody>
      </p:sp>
      <p:sp>
        <p:nvSpPr>
          <p:cNvPr id="14" name="Text 12"/>
          <p:cNvSpPr txBox="1"/>
          <p:nvPr/>
        </p:nvSpPr>
        <p:spPr>
          <a:xfrm>
            <a:off x="8138160" y="3291840"/>
            <a:ext cx="3474720" cy="548640"/>
          </a:xfrm>
          <a:prstGeom prst="rect">
            <a:avLst/>
          </a:prstGeom>
          <a:noFill/>
          <a:ln/>
        </p:spPr>
        <p:txBody>
          <a:bodyPr wrap="square" lIns="0" tIns="0" rIns="0" bIns="0" rtlCol="0" anchor="ctr"/>
          <a:lstStyle/>
          <a:p>
            <a:pPr algn="ctr" indent="0" marL="0">
              <a:buNone/>
            </a:pPr>
            <a:r>
              <a:rPr lang="en-US" sz="2000" dirty="0">
                <a:solidFill>
                  <a:schemeClr val="tx1"/>
                </a:solidFill>
              </a:rPr>
              <a:t>≈ 1.33 (33 % faster)</a:t>
            </a:r>
            <a:endParaRPr lang="en-US" sz="2000" dirty="0"/>
          </a:p>
        </p:txBody>
      </p:sp>
      <p:sp>
        <p:nvSpPr>
          <p:cNvPr id="15" name="shortcut card"/>
          <p:cNvSpPr/>
          <p:nvPr/>
        </p:nvSpPr>
        <p:spPr>
          <a:xfrm>
            <a:off x="548640" y="4526280"/>
            <a:ext cx="11064240" cy="1600200"/>
          </a:xfrm>
          <a:prstGeom prst="roundRect">
            <a:avLst>
              <a:gd name="adj" fmla="val 6857"/>
            </a:avLst>
          </a:prstGeom>
          <a:solidFill>
            <a:schemeClr val="bg2"/>
          </a:solidFill>
          <a:ln w="12700">
            <a:solidFill>
              <a:schemeClr val="bg2"/>
            </a:solidFill>
            <a:prstDash val="solid"/>
          </a:ln>
        </p:spPr>
      </p:sp>
      <p:sp>
        <p:nvSpPr>
          <p:cNvPr id="16" name="Text 14"/>
          <p:cNvSpPr txBox="1"/>
          <p:nvPr/>
        </p:nvSpPr>
        <p:spPr>
          <a:xfrm>
            <a:off x="822960" y="4617720"/>
            <a:ext cx="10515600" cy="1417320"/>
          </a:xfrm>
          <a:prstGeom prst="rect">
            <a:avLst/>
          </a:prstGeom>
          <a:noFill/>
          <a:ln/>
        </p:spPr>
        <p:txBody>
          <a:bodyPr wrap="square" lIns="0" tIns="0" rIns="0" bIns="0" rtlCol="0" anchor="t"/>
          <a:lstStyle/>
          <a:p>
            <a:pPr indent="0" marL="0">
              <a:spcAft>
                <a:spcPts val="600"/>
              </a:spcAft>
              <a:buNone/>
            </a:pPr>
            <a:r>
              <a:rPr lang="en-US" sz="1900" b="1" dirty="0">
                <a:solidFill>
                  <a:schemeClr val="tx1"/>
                </a:solidFill>
              </a:rPr>
              <a:t>A quicker way to see it</a:t>
            </a:r>
            <a:endParaRPr lang="en-US" sz="1900" dirty="0"/>
          </a:p>
          <a:p>
            <a:pPr indent="0" marL="0">
              <a:spcAft>
                <a:spcPts val="600"/>
              </a:spcAft>
              <a:buNone/>
            </a:pPr>
            <a:r>
              <a:rPr lang="en-US" sz="1700" dirty="0">
                <a:solidFill>
                  <a:schemeClr val="tx1"/>
                </a:solidFill>
              </a:rPr>
              <a:t>Both animals cover D in time T, so both have the same average speed, D/T = 2V/3. For steady acceleration from rest, the final speed is twice the average speed: 2 × 2V/3 = 4V/3.</a:t>
            </a:r>
            <a:endParaRPr lang="en-US" sz="19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The speed–time graph</a:t>
            </a:r>
            <a:endParaRPr lang="en-US" sz="3200" dirty="0"/>
          </a:p>
        </p:txBody>
      </p:sp>
      <p:graphicFrame>
        <p:nvGraphicFramePr>
          <p:cNvPr id="3" name="speed-time chart" descr=""/>
          <p:cNvGraphicFramePr/>
          <p:nvPr/>
        </p:nvGraphicFramePr>
        <p:xfrm>
          <a:off x="548640" y="1280160"/>
          <a:ext cx="6949440" cy="4937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863840" y="1325880"/>
            <a:ext cx="3749040" cy="4846320"/>
          </a:xfrm>
          <a:prstGeom prst="rect">
            <a:avLst/>
          </a:prstGeom>
          <a:noFill/>
          <a:ln/>
        </p:spPr>
        <p:txBody>
          <a:bodyPr wrap="square" lIns="0" tIns="0" rIns="0" bIns="0" rtlCol="0" anchor="t"/>
          <a:lstStyle/>
          <a:p>
            <a:pPr indent="0" marL="0">
              <a:spcAft>
                <a:spcPts val="1000"/>
              </a:spcAft>
              <a:buNone/>
            </a:pPr>
            <a:r>
              <a:rPr lang="en-US" sz="2000" b="1" dirty="0">
                <a:solidFill>
                  <a:schemeClr val="tx1"/>
                </a:solidFill>
              </a:rPr>
              <a:t>How to read it</a:t>
            </a:r>
            <a:endParaRPr lang="en-US" sz="2000" dirty="0"/>
          </a:p>
          <a:p>
            <a:pPr indent="0" marL="0">
              <a:spcAft>
                <a:spcPts val="1000"/>
              </a:spcAft>
              <a:buNone/>
            </a:pPr>
            <a:r>
              <a:rPr lang="en-US" sz="1600" dirty="0">
                <a:solidFill>
                  <a:schemeClr val="tx1"/>
                </a:solidFill>
              </a:rPr>
              <a:t>The slope of each line is the acceleration: the dog's line is a little less steep (8/9).</a:t>
            </a:r>
            <a:endParaRPr lang="en-US" sz="2000" dirty="0"/>
          </a:p>
          <a:p>
            <a:pPr indent="0" marL="0">
              <a:spcAft>
                <a:spcPts val="1000"/>
              </a:spcAft>
              <a:buNone/>
            </a:pPr>
            <a:r>
              <a:rPr lang="en-US" sz="1600" dirty="0">
                <a:solidFill>
                  <a:schemeClr val="tx1"/>
                </a:solidFill>
              </a:rPr>
              <a:t>The cheetah's line goes flat at t = 2T/3, when it hits top speed.</a:t>
            </a:r>
            <a:endParaRPr lang="en-US" sz="2000" dirty="0"/>
          </a:p>
          <a:p>
            <a:pPr indent="0" marL="0">
              <a:spcAft>
                <a:spcPts val="1000"/>
              </a:spcAft>
              <a:buNone/>
            </a:pPr>
            <a:r>
              <a:rPr lang="en-US" sz="1600" dirty="0">
                <a:solidFill>
                  <a:schemeClr val="tx1"/>
                </a:solidFill>
              </a:rPr>
              <a:t>The lines cross at t = 3T/4: after that the dog is moving faster.</a:t>
            </a:r>
            <a:endParaRPr lang="en-US" sz="2000" dirty="0"/>
          </a:p>
          <a:p>
            <a:pPr indent="0" marL="0">
              <a:spcAft>
                <a:spcPts val="1000"/>
              </a:spcAft>
              <a:buNone/>
            </a:pPr>
            <a:r>
              <a:rPr lang="en-US" sz="1600" dirty="0">
                <a:solidFill>
                  <a:schemeClr val="tx1"/>
                </a:solidFill>
              </a:rPr>
              <a:t>The area under each line is the distance. Both areas equal 2VT/3 = D, so they finish together.</a:t>
            </a:r>
            <a:endParaRPr lang="en-US" sz="20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Who is ahead during the chase?</a:t>
            </a:r>
            <a:endParaRPr lang="en-US" sz="3200" dirty="0"/>
          </a:p>
        </p:txBody>
      </p:sp>
      <p:graphicFrame>
        <p:nvGraphicFramePr>
          <p:cNvPr id="3" name="distance-time chart" descr=""/>
          <p:cNvGraphicFramePr/>
          <p:nvPr/>
        </p:nvGraphicFramePr>
        <p:xfrm>
          <a:off x="548640" y="1280160"/>
          <a:ext cx="6949440" cy="4937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863840" y="1325880"/>
            <a:ext cx="3749040" cy="4846320"/>
          </a:xfrm>
          <a:prstGeom prst="rect">
            <a:avLst/>
          </a:prstGeom>
          <a:noFill/>
          <a:ln/>
        </p:spPr>
        <p:txBody>
          <a:bodyPr wrap="square" lIns="0" tIns="0" rIns="0" bIns="0" rtlCol="0" anchor="t"/>
          <a:lstStyle/>
          <a:p>
            <a:pPr indent="0" marL="0">
              <a:spcAft>
                <a:spcPts val="1000"/>
              </a:spcAft>
              <a:buNone/>
            </a:pPr>
            <a:r>
              <a:rPr lang="en-US" sz="2000" b="1" dirty="0">
                <a:solidFill>
                  <a:schemeClr val="tx1"/>
                </a:solidFill>
              </a:rPr>
              <a:t>The cheetah leads the whole way</a:t>
            </a:r>
            <a:endParaRPr lang="en-US" sz="2000" dirty="0"/>
          </a:p>
          <a:p>
            <a:pPr indent="0" marL="0">
              <a:spcAft>
                <a:spcPts val="1000"/>
              </a:spcAft>
              <a:buNone/>
            </a:pPr>
            <a:r>
              <a:rPr lang="en-US" sz="1600" dirty="0">
                <a:solidFill>
                  <a:schemeClr val="tx1"/>
                </a:solidFill>
              </a:rPr>
              <a:t>It accelerates harder at the start, so it pulls ahead straight away.</a:t>
            </a:r>
            <a:endParaRPr lang="en-US" sz="2000" dirty="0"/>
          </a:p>
          <a:p>
            <a:pPr indent="0" marL="0">
              <a:spcAft>
                <a:spcPts val="1000"/>
              </a:spcAft>
              <a:buNone/>
            </a:pPr>
            <a:r>
              <a:rPr lang="en-US" sz="1600" dirty="0">
                <a:solidFill>
                  <a:schemeClr val="tx1"/>
                </a:solidFill>
              </a:rPr>
              <a:t>Its lead is biggest at t = 3T/4, when both are running at the same speed: D/16 ahead.</a:t>
            </a:r>
            <a:endParaRPr lang="en-US" sz="2000" dirty="0"/>
          </a:p>
          <a:p>
            <a:pPr indent="0" marL="0">
              <a:spcAft>
                <a:spcPts val="1000"/>
              </a:spcAft>
              <a:buNone/>
            </a:pPr>
            <a:r>
              <a:rPr lang="en-US" sz="1600" dirty="0">
                <a:solidFill>
                  <a:schemeClr val="tx1"/>
                </a:solidFill>
              </a:rPr>
              <a:t>After that the faster dog closes the gap and draws level exactly at the finish line.</a:t>
            </a:r>
            <a:endParaRPr lang="en-US" sz="20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Checking with real numbers</a:t>
            </a:r>
            <a:endParaRPr lang="en-US" sz="3200" dirty="0"/>
          </a:p>
        </p:txBody>
      </p:sp>
      <p:sp>
        <p:nvSpPr>
          <p:cNvPr id="3" name="Text 1"/>
          <p:cNvSpPr txBox="1"/>
          <p:nvPr/>
        </p:nvSpPr>
        <p:spPr>
          <a:xfrm>
            <a:off x="548640" y="1325880"/>
            <a:ext cx="11064240" cy="457200"/>
          </a:xfrm>
          <a:prstGeom prst="rect">
            <a:avLst/>
          </a:prstGeom>
          <a:noFill/>
          <a:ln/>
        </p:spPr>
        <p:txBody>
          <a:bodyPr wrap="square" lIns="0" tIns="0" rIns="0" bIns="0" rtlCol="0" anchor="ctr"/>
          <a:lstStyle/>
          <a:p>
            <a:pPr indent="0" marL="0">
              <a:buNone/>
            </a:pPr>
            <a:r>
              <a:rPr lang="en-US" sz="1800" dirty="0">
                <a:solidFill>
                  <a:schemeClr val="tx2"/>
                </a:solidFill>
              </a:rPr>
              <a:t>Example: a 200 m chase, cheetah top speed 30 m/s (108 km/h)</a:t>
            </a:r>
            <a:endParaRPr lang="en-US" sz="1800" dirty="0"/>
          </a:p>
        </p:txBody>
      </p:sp>
      <p:graphicFrame>
        <p:nvGraphicFramePr>
          <p:cNvPr id="14" name="numbers table"/>
          <p:cNvGraphicFramePr>
            <a:graphicFrameLocks noGrp="1"/>
          </p:cNvGraphicFramePr>
          <p:nvPr>
            <p:extLst>
              <p:ext uri="{D42A27DB-BD31-4B8C-83A1-F6EECF244321}">
                <p14:modId xmlns:p14="http://schemas.microsoft.com/office/powerpoint/2010/main" val="1579011935"/>
              </p:ext>
            </p:extLst>
          </p:nvPr>
        </p:nvGraphicFramePr>
        <p:xfrm>
          <a:off x="548640" y="1920240"/>
          <a:ext cx="7498080" cy="914400"/>
        </p:xfrm>
        <a:graphic>
          <a:graphicData uri="http://schemas.openxmlformats.org/drawingml/2006/table">
            <a:tbl>
              <a:tblPr/>
              <a:tblGrid>
                <a:gridCol w="2377440"/>
                <a:gridCol w="2560320"/>
                <a:gridCol w="2560320"/>
              </a:tblGrid>
              <a:tr h="548640">
                <a:tc>
                  <a:txBody>
                    <a:bodyPr/>
                    <a:lstStyle/>
                    <a:p>
                      <a:pPr algn="ctr" indent="0" marL="0">
                        <a:buNone/>
                      </a:pP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374151"/>
                    </a:solidFill>
                  </a:tcPr>
                </a:tc>
                <a:tc>
                  <a:txBody>
                    <a:bodyPr/>
                    <a:lstStyle/>
                    <a:p>
                      <a:pPr algn="ctr" indent="0" marL="0">
                        <a:buNone/>
                      </a:pPr>
                      <a:r>
                        <a:rPr lang="en-US" sz="1600" b="1" dirty="0">
                          <a:solidFill>
                            <a:srgbClr val="FFFFFF"/>
                          </a:solidFill>
                        </a:rPr>
                        <a:t>Cheetah</a:t>
                      </a: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D97706"/>
                    </a:solidFill>
                  </a:tcPr>
                </a:tc>
                <a:tc>
                  <a:txBody>
                    <a:bodyPr/>
                    <a:lstStyle/>
                    <a:p>
                      <a:pPr algn="ctr" indent="0" marL="0">
                        <a:buNone/>
                      </a:pPr>
                      <a:r>
                        <a:rPr lang="en-US" sz="1600" b="1" dirty="0">
                          <a:solidFill>
                            <a:srgbClr val="FFFFFF"/>
                          </a:solidFill>
                        </a:rPr>
                        <a:t>Dog</a:t>
                      </a: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F766E"/>
                    </a:solidFill>
                  </a:tcPr>
                </a:tc>
              </a:tr>
              <a:tr h="548640">
                <a:tc>
                  <a:txBody>
                    <a:bodyPr/>
                    <a:lstStyle/>
                    <a:p>
                      <a:pPr algn="l" indent="0" marL="0">
                        <a:buNone/>
                      </a:pPr>
                      <a:r>
                        <a:rPr lang="en-US" sz="1600" b="1" dirty="0">
                          <a:solidFill>
                            <a:srgbClr val="1F2937"/>
                          </a:solidFill>
                        </a:rPr>
                        <a:t>Distance</a:t>
                      </a: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1600" dirty="0">
                          <a:solidFill>
                            <a:srgbClr val="1F2937"/>
                          </a:solidFill>
                        </a:rPr>
                        <a:t>200 m</a:t>
                      </a: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1600" dirty="0">
                          <a:solidFill>
                            <a:srgbClr val="1F2937"/>
                          </a:solidFill>
                        </a:rPr>
                        <a:t>200 m</a:t>
                      </a: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48640">
                <a:tc>
                  <a:txBody>
                    <a:bodyPr/>
                    <a:lstStyle/>
                    <a:p>
                      <a:pPr algn="l" indent="0" marL="0">
                        <a:buNone/>
                      </a:pPr>
                      <a:r>
                        <a:rPr lang="en-US" sz="1600" b="1" dirty="0">
                          <a:solidFill>
                            <a:srgbClr val="1F2937"/>
                          </a:solidFill>
                        </a:rPr>
                        <a:t>Acceleration</a:t>
                      </a: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1600" dirty="0">
                          <a:solidFill>
                            <a:srgbClr val="1F2937"/>
                          </a:solidFill>
                        </a:rPr>
                        <a:t>V²/D = 4.5 m/s²</a:t>
                      </a: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1600" dirty="0">
                          <a:solidFill>
                            <a:srgbClr val="1F2937"/>
                          </a:solidFill>
                        </a:rPr>
                        <a:t>2D/T² = 4.0 m/s²</a:t>
                      </a: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48640">
                <a:tc>
                  <a:txBody>
                    <a:bodyPr/>
                    <a:lstStyle/>
                    <a:p>
                      <a:pPr algn="l" indent="0" marL="0">
                        <a:buNone/>
                      </a:pPr>
                      <a:r>
                        <a:rPr lang="en-US" sz="1600" b="1" dirty="0">
                          <a:solidFill>
                            <a:srgbClr val="1F2937"/>
                          </a:solidFill>
                        </a:rPr>
                        <a:t>Time to top speed</a:t>
                      </a: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1600" dirty="0">
                          <a:solidFill>
                            <a:srgbClr val="1F2937"/>
                          </a:solidFill>
                        </a:rPr>
                        <a:t>V/a = 6.67 s</a:t>
                      </a: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1600" dirty="0">
                          <a:solidFill>
                            <a:srgbClr val="1F2937"/>
                          </a:solidFill>
                        </a:rPr>
                        <a:t>never stops speeding up</a:t>
                      </a: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48640">
                <a:tc>
                  <a:txBody>
                    <a:bodyPr/>
                    <a:lstStyle/>
                    <a:p>
                      <a:pPr algn="l" indent="0" marL="0">
                        <a:buNone/>
                      </a:pPr>
                      <a:r>
                        <a:rPr lang="en-US" sz="1600" b="1" dirty="0">
                          <a:solidFill>
                            <a:srgbClr val="1F2937"/>
                          </a:solidFill>
                        </a:rPr>
                        <a:t>Total time</a:t>
                      </a: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1600" dirty="0">
                          <a:solidFill>
                            <a:srgbClr val="1F2937"/>
                          </a:solidFill>
                        </a:rPr>
                        <a:t>6.67 s + 3.33 s = 10 s</a:t>
                      </a: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1600" dirty="0">
                          <a:solidFill>
                            <a:srgbClr val="1F2937"/>
                          </a:solidFill>
                        </a:rPr>
                        <a:t>10 s</a:t>
                      </a: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48640">
                <a:tc>
                  <a:txBody>
                    <a:bodyPr/>
                    <a:lstStyle/>
                    <a:p>
                      <a:pPr algn="l" indent="0" marL="0">
                        <a:buNone/>
                      </a:pPr>
                      <a:r>
                        <a:rPr lang="en-US" sz="1600" b="1" dirty="0">
                          <a:solidFill>
                            <a:srgbClr val="1F2937"/>
                          </a:solidFill>
                        </a:rPr>
                        <a:t>Speed at the finish</a:t>
                      </a: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1600" dirty="0">
                          <a:solidFill>
                            <a:srgbClr val="1F2937"/>
                          </a:solidFill>
                        </a:rPr>
                        <a:t>30 m/s</a:t>
                      </a: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1600" dirty="0">
                          <a:solidFill>
                            <a:srgbClr val="1F2937"/>
                          </a:solidFill>
                        </a:rPr>
                        <a:t>4.0 × 10 = 40 m/s</a:t>
                      </a:r>
                      <a:endParaRPr lang="en-US" sz="1600" dirty="0"/>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bl>
          </a:graphicData>
        </a:graphic>
      </p:graphicFrame>
      <p:sp>
        <p:nvSpPr>
          <p:cNvPr id="5" name="check card"/>
          <p:cNvSpPr/>
          <p:nvPr/>
        </p:nvSpPr>
        <p:spPr>
          <a:xfrm>
            <a:off x="8412480" y="1920240"/>
            <a:ext cx="3200400" cy="1737360"/>
          </a:xfrm>
          <a:prstGeom prst="roundRect">
            <a:avLst>
              <a:gd name="adj" fmla="val 6316"/>
            </a:avLst>
          </a:prstGeom>
          <a:solidFill>
            <a:schemeClr val="accent6"/>
          </a:solidFill>
          <a:ln w="12700">
            <a:solidFill>
              <a:schemeClr val="accent6"/>
            </a:solidFill>
            <a:prstDash val="solid"/>
          </a:ln>
        </p:spPr>
      </p:sp>
      <p:sp>
        <p:nvSpPr>
          <p:cNvPr id="6" name="Text 3"/>
          <p:cNvSpPr txBox="1"/>
          <p:nvPr/>
        </p:nvSpPr>
        <p:spPr>
          <a:xfrm>
            <a:off x="8641080" y="2103120"/>
            <a:ext cx="2834640" cy="1463040"/>
          </a:xfrm>
          <a:prstGeom prst="rect">
            <a:avLst/>
          </a:prstGeom>
          <a:noFill/>
          <a:ln/>
        </p:spPr>
        <p:txBody>
          <a:bodyPr wrap="square" lIns="0" tIns="0" rIns="0" bIns="0" rtlCol="0" anchor="t"/>
          <a:lstStyle/>
          <a:p>
            <a:pPr indent="0" marL="0">
              <a:spcAft>
                <a:spcPts val="1000"/>
              </a:spcAft>
              <a:buNone/>
            </a:pPr>
            <a:r>
              <a:rPr lang="en-US" sz="1900" b="1" dirty="0">
                <a:solidFill>
                  <a:schemeClr val="tx1"/>
                </a:solidFill>
              </a:rPr>
              <a:t>Ratios check out</a:t>
            </a:r>
            <a:endParaRPr lang="en-US" sz="1900" dirty="0"/>
          </a:p>
          <a:p>
            <a:pPr indent="0" marL="0">
              <a:spcAft>
                <a:spcPts val="1000"/>
              </a:spcAft>
              <a:buNone/>
            </a:pPr>
            <a:r>
              <a:rPr lang="en-US" sz="1800" dirty="0">
                <a:solidFill>
                  <a:schemeClr val="tx1"/>
                </a:solidFill>
              </a:rPr>
              <a:t>4.0 / 4.5 = 0.889 = 8/9 ✓</a:t>
            </a:r>
            <a:endParaRPr lang="en-US" sz="1900" dirty="0"/>
          </a:p>
          <a:p>
            <a:pPr indent="0" marL="0">
              <a:spcAft>
                <a:spcPts val="1000"/>
              </a:spcAft>
              <a:buNone/>
            </a:pPr>
            <a:r>
              <a:rPr lang="en-US" sz="1800" dirty="0">
                <a:solidFill>
                  <a:schemeClr val="tx1"/>
                </a:solidFill>
              </a:rPr>
              <a:t>40 / 30 = 1.33 = 4/3 ✓</a:t>
            </a:r>
            <a:endParaRPr lang="en-US" sz="1900" dirty="0"/>
          </a:p>
        </p:txBody>
      </p:sp>
      <p:sp>
        <p:nvSpPr>
          <p:cNvPr id="7" name="Text 4"/>
          <p:cNvSpPr txBox="1"/>
          <p:nvPr/>
        </p:nvSpPr>
        <p:spPr>
          <a:xfrm>
            <a:off x="548640" y="5486400"/>
            <a:ext cx="11064240" cy="731520"/>
          </a:xfrm>
          <a:prstGeom prst="rect">
            <a:avLst/>
          </a:prstGeom>
          <a:noFill/>
          <a:ln/>
        </p:spPr>
        <p:txBody>
          <a:bodyPr wrap="square" lIns="0" tIns="0" rIns="0" bIns="0" rtlCol="0" anchor="t"/>
          <a:lstStyle/>
          <a:p>
            <a:pPr indent="0" marL="0">
              <a:buNone/>
            </a:pPr>
            <a:r>
              <a:rPr lang="en-US" sz="1500" i="1" dirty="0">
                <a:solidFill>
                  <a:schemeClr val="tx2"/>
                </a:solidFill>
              </a:rPr>
              <a:t>Fun fact: no real dog can reach 40 m/s (144 km/h); greyhounds top out at around 20 m/s. So in real life the cheetah would win easily, but the maths doesn't care!</a:t>
            </a:r>
            <a:endParaRPr lang="en-US" sz="15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Summary</a:t>
            </a:r>
            <a:endParaRPr lang="en-US" sz="3200" dirty="0"/>
          </a:p>
        </p:txBody>
      </p:sp>
      <p:sp>
        <p:nvSpPr>
          <p:cNvPr id="3" name="Ratio of accelerations card"/>
          <p:cNvSpPr/>
          <p:nvPr/>
        </p:nvSpPr>
        <p:spPr>
          <a:xfrm>
            <a:off x="548640" y="1325880"/>
            <a:ext cx="5349240" cy="2194560"/>
          </a:xfrm>
          <a:prstGeom prst="roundRect">
            <a:avLst>
              <a:gd name="adj" fmla="val 5000"/>
            </a:avLst>
          </a:prstGeom>
          <a:solidFill>
            <a:srgbClr val="FFFFFF"/>
          </a:solidFill>
          <a:ln w="25400">
            <a:solidFill>
              <a:schemeClr val="accent1"/>
            </a:solidFill>
            <a:prstDash val="solid"/>
          </a:ln>
        </p:spPr>
      </p:sp>
      <p:sp>
        <p:nvSpPr>
          <p:cNvPr id="4" name="Text 2"/>
          <p:cNvSpPr txBox="1"/>
          <p:nvPr/>
        </p:nvSpPr>
        <p:spPr>
          <a:xfrm>
            <a:off x="822960" y="1463040"/>
            <a:ext cx="4800600" cy="457200"/>
          </a:xfrm>
          <a:prstGeom prst="rect">
            <a:avLst/>
          </a:prstGeom>
          <a:noFill/>
          <a:ln/>
        </p:spPr>
        <p:txBody>
          <a:bodyPr wrap="square" lIns="0" tIns="0" rIns="0" bIns="0" rtlCol="0" anchor="ctr"/>
          <a:lstStyle/>
          <a:p>
            <a:pPr indent="0" marL="0">
              <a:buNone/>
            </a:pPr>
            <a:r>
              <a:rPr lang="en-US" sz="1800" dirty="0">
                <a:solidFill>
                  <a:schemeClr val="tx2"/>
                </a:solidFill>
              </a:rPr>
              <a:t>Ratio of accelerations</a:t>
            </a:r>
            <a:endParaRPr lang="en-US" sz="1800" dirty="0"/>
          </a:p>
        </p:txBody>
      </p:sp>
      <p:sp>
        <p:nvSpPr>
          <p:cNvPr id="5" name="Text 3"/>
          <p:cNvSpPr txBox="1"/>
          <p:nvPr/>
        </p:nvSpPr>
        <p:spPr>
          <a:xfrm>
            <a:off x="822960" y="1965960"/>
            <a:ext cx="4800600" cy="822960"/>
          </a:xfrm>
          <a:prstGeom prst="rect">
            <a:avLst/>
          </a:prstGeom>
          <a:noFill/>
          <a:ln/>
        </p:spPr>
        <p:txBody>
          <a:bodyPr wrap="square" lIns="0" tIns="0" rIns="0" bIns="0" rtlCol="0" anchor="ctr"/>
          <a:lstStyle/>
          <a:p>
            <a:pPr indent="0" marL="0">
              <a:buNone/>
            </a:pPr>
            <a:r>
              <a:rPr lang="en-US" sz="3000" b="1" dirty="0">
                <a:solidFill>
                  <a:schemeClr val="accent3"/>
                </a:solidFill>
              </a:rPr>
              <a:t>a</a:t>
            </a:r>
            <a:pPr indent="0" marL="0">
              <a:buNone/>
            </a:pPr>
            <a:r>
              <a:rPr lang="en-US" sz="3000" b="1" baseline="-40000" dirty="0">
                <a:solidFill>
                  <a:schemeClr val="accent3"/>
                </a:solidFill>
              </a:rPr>
              <a:t>d</a:t>
            </a:r>
            <a:pPr indent="0" marL="0">
              <a:buNone/>
            </a:pPr>
            <a:r>
              <a:rPr lang="en-US" sz="3000" b="1" dirty="0">
                <a:solidFill>
                  <a:schemeClr val="accent3"/>
                </a:solidFill>
              </a:rPr>
              <a:t> / a</a:t>
            </a:r>
            <a:pPr indent="0" marL="0">
              <a:buNone/>
            </a:pPr>
            <a:r>
              <a:rPr lang="en-US" sz="3000" b="1" baseline="-40000" dirty="0">
                <a:solidFill>
                  <a:schemeClr val="accent3"/>
                </a:solidFill>
              </a:rPr>
              <a:t>c</a:t>
            </a:r>
            <a:pPr indent="0" marL="0">
              <a:buNone/>
            </a:pPr>
            <a:r>
              <a:rPr lang="en-US" sz="3000" b="1" dirty="0">
                <a:solidFill>
                  <a:schemeClr val="accent3"/>
                </a:solidFill>
              </a:rPr>
              <a:t> = 8/9 ≈ 0.89</a:t>
            </a:r>
            <a:endParaRPr lang="en-US" sz="3000" dirty="0"/>
          </a:p>
        </p:txBody>
      </p:sp>
      <p:sp>
        <p:nvSpPr>
          <p:cNvPr id="6" name="Text 4"/>
          <p:cNvSpPr txBox="1"/>
          <p:nvPr/>
        </p:nvSpPr>
        <p:spPr>
          <a:xfrm>
            <a:off x="822960" y="2834640"/>
            <a:ext cx="4800600" cy="548640"/>
          </a:xfrm>
          <a:prstGeom prst="rect">
            <a:avLst/>
          </a:prstGeom>
          <a:noFill/>
          <a:ln/>
        </p:spPr>
        <p:txBody>
          <a:bodyPr wrap="square" lIns="0" tIns="0" rIns="0" bIns="0" rtlCol="0" anchor="ctr"/>
          <a:lstStyle/>
          <a:p>
            <a:pPr indent="0" marL="0">
              <a:buNone/>
            </a:pPr>
            <a:r>
              <a:rPr lang="en-US" sz="1600" dirty="0">
                <a:solidFill>
                  <a:schemeClr val="tx1"/>
                </a:solidFill>
              </a:rPr>
              <a:t>The dog accelerates about 11 % less than the cheetah.</a:t>
            </a:r>
            <a:endParaRPr lang="en-US" sz="1600" dirty="0"/>
          </a:p>
        </p:txBody>
      </p:sp>
      <p:sp>
        <p:nvSpPr>
          <p:cNvPr id="7" name="Faster at the finish card"/>
          <p:cNvSpPr/>
          <p:nvPr/>
        </p:nvSpPr>
        <p:spPr>
          <a:xfrm>
            <a:off x="6263640" y="1325880"/>
            <a:ext cx="5349240" cy="2194560"/>
          </a:xfrm>
          <a:prstGeom prst="roundRect">
            <a:avLst>
              <a:gd name="adj" fmla="val 5000"/>
            </a:avLst>
          </a:prstGeom>
          <a:solidFill>
            <a:srgbClr val="FFFFFF"/>
          </a:solidFill>
          <a:ln w="25400">
            <a:solidFill>
              <a:schemeClr val="accent2"/>
            </a:solidFill>
            <a:prstDash val="solid"/>
          </a:ln>
        </p:spPr>
      </p:sp>
      <p:sp>
        <p:nvSpPr>
          <p:cNvPr id="8" name="Text 6"/>
          <p:cNvSpPr txBox="1"/>
          <p:nvPr/>
        </p:nvSpPr>
        <p:spPr>
          <a:xfrm>
            <a:off x="6537960" y="1463040"/>
            <a:ext cx="4800600" cy="457200"/>
          </a:xfrm>
          <a:prstGeom prst="rect">
            <a:avLst/>
          </a:prstGeom>
          <a:noFill/>
          <a:ln/>
        </p:spPr>
        <p:txBody>
          <a:bodyPr wrap="square" lIns="0" tIns="0" rIns="0" bIns="0" rtlCol="0" anchor="ctr"/>
          <a:lstStyle/>
          <a:p>
            <a:pPr indent="0" marL="0">
              <a:buNone/>
            </a:pPr>
            <a:r>
              <a:rPr lang="en-US" sz="1800" dirty="0">
                <a:solidFill>
                  <a:schemeClr val="tx2"/>
                </a:solidFill>
              </a:rPr>
              <a:t>Faster at the finish</a:t>
            </a:r>
            <a:endParaRPr lang="en-US" sz="1800" dirty="0"/>
          </a:p>
        </p:txBody>
      </p:sp>
      <p:sp>
        <p:nvSpPr>
          <p:cNvPr id="9" name="Text 7"/>
          <p:cNvSpPr txBox="1"/>
          <p:nvPr/>
        </p:nvSpPr>
        <p:spPr>
          <a:xfrm>
            <a:off x="6537960" y="1965960"/>
            <a:ext cx="4800600" cy="822960"/>
          </a:xfrm>
          <a:prstGeom prst="rect">
            <a:avLst/>
          </a:prstGeom>
          <a:noFill/>
          <a:ln/>
        </p:spPr>
        <p:txBody>
          <a:bodyPr wrap="square" lIns="0" tIns="0" rIns="0" bIns="0" rtlCol="0" anchor="ctr"/>
          <a:lstStyle/>
          <a:p>
            <a:pPr indent="0" marL="0">
              <a:buNone/>
            </a:pPr>
            <a:r>
              <a:rPr lang="en-US" sz="3000" b="1" dirty="0">
                <a:solidFill>
                  <a:schemeClr val="accent4"/>
                </a:solidFill>
              </a:rPr>
              <a:t>Dog, by 4/3 ≈ 1.33</a:t>
            </a:r>
            <a:endParaRPr lang="en-US" sz="3000" dirty="0"/>
          </a:p>
        </p:txBody>
      </p:sp>
      <p:sp>
        <p:nvSpPr>
          <p:cNvPr id="10" name="Text 8"/>
          <p:cNvSpPr txBox="1"/>
          <p:nvPr/>
        </p:nvSpPr>
        <p:spPr>
          <a:xfrm>
            <a:off x="6537960" y="2834640"/>
            <a:ext cx="4800600" cy="548640"/>
          </a:xfrm>
          <a:prstGeom prst="rect">
            <a:avLst/>
          </a:prstGeom>
          <a:noFill/>
          <a:ln/>
        </p:spPr>
        <p:txBody>
          <a:bodyPr wrap="square" lIns="0" tIns="0" rIns="0" bIns="0" rtlCol="0" anchor="ctr"/>
          <a:lstStyle/>
          <a:p>
            <a:pPr indent="0" marL="0">
              <a:buNone/>
            </a:pPr>
            <a:r>
              <a:rPr lang="en-US" sz="1600" dirty="0">
                <a:solidFill>
                  <a:schemeClr val="tx1"/>
                </a:solidFill>
              </a:rPr>
              <a:t>The dog ends at 4V/3, the cheetah at V.</a:t>
            </a:r>
            <a:endParaRPr lang="en-US" sz="1600" dirty="0"/>
          </a:p>
        </p:txBody>
      </p:sp>
      <p:sp>
        <p:nvSpPr>
          <p:cNvPr id="11" name="takeaways card"/>
          <p:cNvSpPr/>
          <p:nvPr/>
        </p:nvSpPr>
        <p:spPr>
          <a:xfrm>
            <a:off x="548640" y="3840480"/>
            <a:ext cx="11064240" cy="2286000"/>
          </a:xfrm>
          <a:prstGeom prst="roundRect">
            <a:avLst>
              <a:gd name="adj" fmla="val 4800"/>
            </a:avLst>
          </a:prstGeom>
          <a:solidFill>
            <a:schemeClr val="bg2"/>
          </a:solidFill>
          <a:ln w="12700">
            <a:solidFill>
              <a:schemeClr val="bg2"/>
            </a:solidFill>
            <a:prstDash val="solid"/>
          </a:ln>
        </p:spPr>
      </p:sp>
      <p:sp>
        <p:nvSpPr>
          <p:cNvPr id="12" name="Text 10"/>
          <p:cNvSpPr txBox="1"/>
          <p:nvPr/>
        </p:nvSpPr>
        <p:spPr>
          <a:xfrm>
            <a:off x="822960" y="3977640"/>
            <a:ext cx="10515600" cy="205740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What we learned</a:t>
            </a:r>
            <a:endParaRPr lang="en-US" sz="2000" dirty="0"/>
          </a:p>
          <a:p>
            <a:pPr marL="342900" indent="-342900">
              <a:spcAft>
                <a:spcPts val="800"/>
              </a:spcAft>
              <a:buSzPct val="100000"/>
              <a:buChar char="•"/>
            </a:pPr>
            <a:r>
              <a:rPr lang="en-US" sz="1700" dirty="0">
                <a:solidFill>
                  <a:schemeClr val="tx1"/>
                </a:solidFill>
              </a:rPr>
              <a:t>Same distance and same time doesn't mean the same motion: the cheetah leads all the way, but the dog finishes faster.</a:t>
            </a:r>
            <a:endParaRPr lang="en-US" sz="2000" dirty="0"/>
          </a:p>
          <a:p>
            <a:pPr marL="342900" indent="-342900">
              <a:spcAft>
                <a:spcPts val="800"/>
              </a:spcAft>
              <a:buSzPct val="100000"/>
              <a:buChar char="•"/>
            </a:pPr>
            <a:r>
              <a:rPr lang="en-US" sz="1700" dirty="0">
                <a:solidFill>
                  <a:schemeClr val="tx1"/>
                </a:solidFill>
              </a:rPr>
              <a:t>Writing everything in symbols (D, V, T) let the unknowns cancel, so the answers don't depend on the actual numbers.</a:t>
            </a:r>
            <a:endParaRPr lang="en-US" sz="2000" dirty="0"/>
          </a:p>
          <a:p>
            <a:pPr marL="342900" indent="-342900">
              <a:spcAft>
                <a:spcPts val="800"/>
              </a:spcAft>
              <a:buSzPct val="100000"/>
              <a:buChar char="•"/>
            </a:pPr>
            <a:r>
              <a:rPr lang="en-US" sz="1700" dirty="0">
                <a:solidFill>
                  <a:schemeClr val="tx1"/>
                </a:solidFill>
              </a:rPr>
              <a:t>Graphs help: the area under a speed–time graph is the distance, and the slope is the acceleration.</a:t>
            </a:r>
            <a:endParaRPr lang="en-US" sz="20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Backup · What if “midpoint” meant halfway in time?</a:t>
            </a:r>
            <a:endParaRPr lang="en-US" sz="3200" dirty="0"/>
          </a:p>
        </p:txBody>
      </p:sp>
      <p:sp>
        <p:nvSpPr>
          <p:cNvPr id="3" name="Text 1"/>
          <p:cNvSpPr txBox="1"/>
          <p:nvPr/>
        </p:nvSpPr>
        <p:spPr>
          <a:xfrm>
            <a:off x="548640" y="1325880"/>
            <a:ext cx="6766560" cy="3291840"/>
          </a:xfrm>
          <a:prstGeom prst="rect">
            <a:avLst/>
          </a:prstGeom>
          <a:noFill/>
          <a:ln/>
        </p:spPr>
        <p:txBody>
          <a:bodyPr wrap="square" lIns="0" tIns="0" rIns="0" bIns="0" rtlCol="0" anchor="t"/>
          <a:lstStyle/>
          <a:p>
            <a:pPr indent="0" marL="0">
              <a:spcAft>
                <a:spcPts val="1200"/>
              </a:spcAft>
              <a:buNone/>
            </a:pPr>
            <a:r>
              <a:rPr lang="en-US" sz="1800" dirty="0">
                <a:solidFill>
                  <a:schemeClr val="tx1"/>
                </a:solidFill>
              </a:rPr>
              <a:t>If the cheetah reached top speed at t = T/2 instead of at D/2:</a:t>
            </a:r>
            <a:endParaRPr lang="en-US" sz="1800" dirty="0"/>
          </a:p>
          <a:p>
            <a:pPr indent="0" marL="0">
              <a:spcAft>
                <a:spcPts val="1200"/>
              </a:spcAft>
              <a:buNone/>
            </a:pPr>
            <a:r>
              <a:rPr lang="en-US" sz="2200" b="1" dirty="0">
                <a:solidFill>
                  <a:schemeClr val="tx1"/>
                </a:solidFill>
              </a:rPr>
              <a:t>a</a:t>
            </a:r>
            <a:pPr indent="0" marL="0">
              <a:spcAft>
                <a:spcPts val="1200"/>
              </a:spcAft>
              <a:buNone/>
            </a:pPr>
            <a:r>
              <a:rPr lang="en-US" sz="2200" b="1" baseline="-40000" dirty="0">
                <a:solidFill>
                  <a:schemeClr val="tx1"/>
                </a:solidFill>
              </a:rPr>
              <a:t>c</a:t>
            </a:r>
            <a:pPr indent="0" marL="0">
              <a:spcAft>
                <a:spcPts val="1200"/>
              </a:spcAft>
              <a:buNone/>
            </a:pPr>
            <a:r>
              <a:rPr lang="en-US" sz="2200" b="1" dirty="0">
                <a:solidFill>
                  <a:schemeClr val="tx1"/>
                </a:solidFill>
              </a:rPr>
              <a:t> = V / (T/2) = 2V/T</a:t>
            </a:r>
            <a:endParaRPr lang="en-US" sz="1800" dirty="0"/>
          </a:p>
          <a:p>
            <a:pPr indent="0" marL="0">
              <a:spcAft>
                <a:spcPts val="1200"/>
              </a:spcAft>
              <a:buNone/>
            </a:pPr>
            <a:r>
              <a:rPr lang="en-US" sz="2200" b="1" dirty="0">
                <a:solidFill>
                  <a:schemeClr val="tx1"/>
                </a:solidFill>
              </a:rPr>
              <a:t>D = ½ · V · (T/2) + V · (T/2) = 3VT/4</a:t>
            </a:r>
            <a:endParaRPr lang="en-US" sz="1800" dirty="0"/>
          </a:p>
          <a:p>
            <a:pPr indent="0" marL="0">
              <a:spcAft>
                <a:spcPts val="1200"/>
              </a:spcAft>
              <a:buNone/>
            </a:pPr>
            <a:r>
              <a:rPr lang="en-US" sz="2200" b="1" dirty="0">
                <a:solidFill>
                  <a:schemeClr val="tx1"/>
                </a:solidFill>
              </a:rPr>
              <a:t>a</a:t>
            </a:r>
            <a:pPr indent="0" marL="0">
              <a:spcAft>
                <a:spcPts val="1200"/>
              </a:spcAft>
              <a:buNone/>
            </a:pPr>
            <a:r>
              <a:rPr lang="en-US" sz="2200" b="1" baseline="-40000" dirty="0">
                <a:solidFill>
                  <a:schemeClr val="tx1"/>
                </a:solidFill>
              </a:rPr>
              <a:t>d</a:t>
            </a:r>
            <a:pPr indent="0" marL="0">
              <a:spcAft>
                <a:spcPts val="1200"/>
              </a:spcAft>
              <a:buNone/>
            </a:pPr>
            <a:r>
              <a:rPr lang="en-US" sz="2200" b="1" dirty="0">
                <a:solidFill>
                  <a:schemeClr val="tx1"/>
                </a:solidFill>
              </a:rPr>
              <a:t> = 2D / T</a:t>
            </a:r>
            <a:pPr indent="0" marL="0">
              <a:spcAft>
                <a:spcPts val="1200"/>
              </a:spcAft>
              <a:buNone/>
            </a:pPr>
            <a:r>
              <a:rPr lang="en-US" sz="2200" b="1" baseline="30000" dirty="0">
                <a:solidFill>
                  <a:schemeClr val="tx1"/>
                </a:solidFill>
              </a:rPr>
              <a:t>2</a:t>
            </a:r>
            <a:pPr indent="0" marL="0">
              <a:spcAft>
                <a:spcPts val="1200"/>
              </a:spcAft>
              <a:buNone/>
            </a:pPr>
            <a:r>
              <a:rPr lang="en-US" sz="2200" b="1" dirty="0">
                <a:solidFill>
                  <a:schemeClr val="tx1"/>
                </a:solidFill>
              </a:rPr>
              <a:t> = 3V / (2T)</a:t>
            </a:r>
            <a:endParaRPr lang="en-US" sz="1800" dirty="0"/>
          </a:p>
        </p:txBody>
      </p:sp>
      <p:sp>
        <p:nvSpPr>
          <p:cNvPr id="4" name="alternative results card"/>
          <p:cNvSpPr/>
          <p:nvPr/>
        </p:nvSpPr>
        <p:spPr>
          <a:xfrm>
            <a:off x="7680960" y="1325880"/>
            <a:ext cx="3931920" cy="2011680"/>
          </a:xfrm>
          <a:prstGeom prst="roundRect">
            <a:avLst>
              <a:gd name="adj" fmla="val 5455"/>
            </a:avLst>
          </a:prstGeom>
          <a:solidFill>
            <a:schemeClr val="bg2"/>
          </a:solidFill>
          <a:ln w="12700">
            <a:solidFill>
              <a:schemeClr val="bg2"/>
            </a:solidFill>
            <a:prstDash val="solid"/>
          </a:ln>
        </p:spPr>
      </p:sp>
      <p:sp>
        <p:nvSpPr>
          <p:cNvPr id="5" name="Text 3"/>
          <p:cNvSpPr txBox="1"/>
          <p:nvPr/>
        </p:nvSpPr>
        <p:spPr>
          <a:xfrm>
            <a:off x="7955280" y="1554480"/>
            <a:ext cx="3474720" cy="1645920"/>
          </a:xfrm>
          <a:prstGeom prst="rect">
            <a:avLst/>
          </a:prstGeom>
          <a:noFill/>
          <a:ln/>
        </p:spPr>
        <p:txBody>
          <a:bodyPr wrap="square" lIns="0" tIns="0" rIns="0" bIns="0" rtlCol="0" anchor="t"/>
          <a:lstStyle/>
          <a:p>
            <a:pPr indent="0" marL="0">
              <a:spcAft>
                <a:spcPts val="1200"/>
              </a:spcAft>
              <a:buNone/>
            </a:pPr>
            <a:r>
              <a:rPr lang="en-US" sz="1900" b="1" dirty="0">
                <a:solidFill>
                  <a:schemeClr val="tx1"/>
                </a:solidFill>
              </a:rPr>
              <a:t>Results in that case</a:t>
            </a:r>
            <a:endParaRPr lang="en-US" sz="1900" dirty="0"/>
          </a:p>
          <a:p>
            <a:pPr indent="0" marL="0">
              <a:spcAft>
                <a:spcPts val="1200"/>
              </a:spcAft>
              <a:buNone/>
            </a:pPr>
            <a:r>
              <a:rPr lang="en-US" sz="2000" dirty="0">
                <a:solidFill>
                  <a:schemeClr val="tx1"/>
                </a:solidFill>
              </a:rPr>
              <a:t>a</a:t>
            </a:r>
            <a:pPr indent="0" marL="0">
              <a:spcAft>
                <a:spcPts val="1200"/>
              </a:spcAft>
              <a:buNone/>
            </a:pPr>
            <a:r>
              <a:rPr lang="en-US" sz="2000" baseline="-40000" dirty="0">
                <a:solidFill>
                  <a:schemeClr val="tx1"/>
                </a:solidFill>
              </a:rPr>
              <a:t>d</a:t>
            </a:r>
            <a:pPr indent="0" marL="0">
              <a:spcAft>
                <a:spcPts val="1200"/>
              </a:spcAft>
              <a:buNone/>
            </a:pPr>
            <a:r>
              <a:rPr lang="en-US" sz="2000" dirty="0">
                <a:solidFill>
                  <a:schemeClr val="tx1"/>
                </a:solidFill>
              </a:rPr>
              <a:t> / a</a:t>
            </a:r>
            <a:pPr indent="0" marL="0">
              <a:spcAft>
                <a:spcPts val="1200"/>
              </a:spcAft>
              <a:buNone/>
            </a:pPr>
            <a:r>
              <a:rPr lang="en-US" sz="2000" baseline="-40000" dirty="0">
                <a:solidFill>
                  <a:schemeClr val="tx1"/>
                </a:solidFill>
              </a:rPr>
              <a:t>c</a:t>
            </a:r>
            <a:pPr indent="0" marL="0">
              <a:spcAft>
                <a:spcPts val="1200"/>
              </a:spcAft>
              <a:buNone/>
            </a:pPr>
            <a:r>
              <a:rPr lang="en-US" sz="2000" dirty="0">
                <a:solidFill>
                  <a:schemeClr val="tx1"/>
                </a:solidFill>
              </a:rPr>
              <a:t> = 3/4</a:t>
            </a:r>
            <a:endParaRPr lang="en-US" sz="1900" dirty="0"/>
          </a:p>
          <a:p>
            <a:pPr indent="0" marL="0">
              <a:spcAft>
                <a:spcPts val="1200"/>
              </a:spcAft>
              <a:buNone/>
            </a:pPr>
            <a:r>
              <a:rPr lang="en-US" sz="2000" dirty="0">
                <a:solidFill>
                  <a:schemeClr val="tx1"/>
                </a:solidFill>
              </a:rPr>
              <a:t>Dog faster at the end by 3/2</a:t>
            </a:r>
            <a:endParaRPr lang="en-US" sz="1900" dirty="0"/>
          </a:p>
        </p:txBody>
      </p:sp>
      <p:sp>
        <p:nvSpPr>
          <p:cNvPr id="6" name="Text 4"/>
          <p:cNvSpPr txBox="1"/>
          <p:nvPr/>
        </p:nvSpPr>
        <p:spPr>
          <a:xfrm>
            <a:off x="548640" y="4206240"/>
            <a:ext cx="11064240" cy="914400"/>
          </a:xfrm>
          <a:prstGeom prst="rect">
            <a:avLst/>
          </a:prstGeom>
          <a:noFill/>
          <a:ln/>
        </p:spPr>
        <p:txBody>
          <a:bodyPr wrap="square" lIns="0" tIns="0" rIns="0" bIns="0" rtlCol="0" anchor="t"/>
          <a:lstStyle/>
          <a:p>
            <a:pPr indent="0" marL="0">
              <a:buNone/>
            </a:pPr>
            <a:r>
              <a:rPr lang="en-US" sz="1600" i="1" dirty="0">
                <a:solidFill>
                  <a:schemeClr val="tx2"/>
                </a:solidFill>
              </a:rPr>
              <a:t>We used the distance meaning in our main answer, because the problem talks about covering the distance. The method is exactly the same either way.</a:t>
            </a:r>
            <a:endParaRPr lang="en-US" sz="16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Cheetah vs Dog">
  <a:themeElements>
    <a:clrScheme name="Cheetah vs Dog">
      <a:dk1>
        <a:srgbClr val="1F2937"/>
      </a:dk1>
      <a:lt1>
        <a:srgbClr val="FFFFFF"/>
      </a:lt1>
      <a:dk2>
        <a:srgbClr val="4B5563"/>
      </a:dk2>
      <a:lt2>
        <a:srgbClr val="F3F4F6"/>
      </a:lt2>
      <a:accent1>
        <a:srgbClr val="D97706"/>
      </a:accent1>
      <a:accent2>
        <a:srgbClr val="0F766E"/>
      </a:accent2>
      <a:accent3>
        <a:srgbClr val="B45309"/>
      </a:accent3>
      <a:accent4>
        <a:srgbClr val="115E59"/>
      </a:accent4>
      <a:accent5>
        <a:srgbClr val="6B7280"/>
      </a:accent5>
      <a:accent6>
        <a:srgbClr val="FEF3C7"/>
      </a:accent6>
      <a:hlink>
        <a:srgbClr val="0563C1"/>
      </a:hlink>
      <a:folHlink>
        <a:srgbClr val="954F72"/>
      </a:folHlink>
    </a:clrScheme>
    <a:fontScheme name="Cheetah vs Do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5 – The Cheetah and the Dog</dc:title>
  <dc:subject>PptxGenJS Presentation</dc:subject>
  <dc:creator>PptxGenJS</dc:creator>
  <cp:lastModifiedBy>PptxGenJS</cp:lastModifiedBy>
  <cp:revision>1</cp:revision>
  <dcterms:created xsi:type="dcterms:W3CDTF">2026-10-02T10:46:47Z</dcterms:created>
  <dcterms:modified xsi:type="dcterms:W3CDTF">2026-10-02T10:46:47Z</dcterms:modified>
</cp:coreProperties>
</file>